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21387816"/>
  <p:notesSz cx="21387816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Libmeldy / LV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Diseases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BMN 307 / AAV5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Diseases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OAV101-IT / AAV9</c:v>
                </c:pt>
              </c:strCache>
            </c:strRef>
          </c:tx>
          <c:spPr>
            <a:solidFill>
              <a:srgbClr val="0277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Diseases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Luxturna / AAV2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Diseases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Strimvelis / LV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Diseases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3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Other</c:v>
                </c:pt>
              </c:strCache>
            </c:strRef>
          </c:tx>
          <c:spPr>
            <a:solidFill>
              <a:srgbClr val="607D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Diseases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Packaging fail</c:v>
                </c:pt>
              </c:strCache>
            </c:strRef>
          </c:tx>
          <c:spPr>
            <a:solidFill>
              <a:srgbClr val="B71C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C1C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Diseases</c:v>
                  </c:pt>
                </c:lvl>
              </c:multiLvlStrCache>
            </c:multiLvlStrRef>
          </c:cat>
          <c:val>
            <c:numRef>
              <c:f>Sheet1!$H$2:$H$2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C1C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C1C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DE5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C1C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BFF"/>
        </a:solidFill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300">
              <a:solidFill>
                <a:srgbClr val="1C1C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A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10896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3108960" cy="1554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11880" y="365760"/>
            <a:ext cx="0" cy="2331720"/>
          </a:xfrm>
          <a:prstGeom prst="line">
            <a:avLst/>
          </a:prstGeom>
          <a:noFill/>
          <a:ln w="19050">
            <a:solidFill>
              <a:srgbClr val="5580A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840480" y="201168"/>
            <a:ext cx="1793138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NanoGT: Bridging the Gene Therapy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Gap in Rare Disease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3840480" y="2084832"/>
            <a:ext cx="21131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Lili Yassin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3840480" y="2578608"/>
            <a:ext cx="22960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CFE0"/>
                </a:solidFill>
              </a:rPr>
              <a:t>Imperial College London  ·  Department of Bioengineering / Faculty of Medicine  ·  MSc Dissertation 2025–2026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3143464" y="685800"/>
            <a:ext cx="681228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143464" y="685800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Dissertation Days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3143464" y="1261872"/>
            <a:ext cx="6812280" cy="457200"/>
          </a:xfrm>
          <a:prstGeom prst="roundRect">
            <a:avLst>
              <a:gd name="adj" fmla="val 30000"/>
            </a:avLst>
          </a:prstGeom>
          <a:solidFill>
            <a:srgbClr val="FFFFFF">
              <a:alpha val="17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143464" y="1261872"/>
            <a:ext cx="6812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CDDEE"/>
                </a:solidFill>
              </a:rPr>
              <a:t>Supervisor: [Name]  ·  lili.yassin25@imperial.ac.uk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149840" y="3291840"/>
            <a:ext cx="0" cy="17273016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125944" y="3291840"/>
            <a:ext cx="0" cy="17273016"/>
          </a:xfrm>
          <a:prstGeom prst="line">
            <a:avLst/>
          </a:prstGeom>
          <a:noFill/>
          <a:ln w="12700">
            <a:solidFill>
              <a:srgbClr val="D0DC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2608" y="3401568"/>
            <a:ext cx="9738360" cy="45720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" y="3401568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INTRODUCTION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92608" y="4023360"/>
            <a:ext cx="9738360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Approximately 7,000 rare diseases are identified globally, yet the vast majority have no approved disease-modifying treatment. For the most extreme cases — nano-rare diseases affecting fewer than 1 in 1,000,000 people — industry abandonment is the norm, not the exception.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292608" y="5349240"/>
            <a:ext cx="973836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Gene therapy is a uniquely promising modality for monogenic rare diseases: it addresses the root cause, not the symptoms. Landmark approvals have established proof of concept across multiple tissue targets: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292608" y="6403086"/>
            <a:ext cx="3185160" cy="960120"/>
          </a:xfrm>
          <a:prstGeom prst="roundRect">
            <a:avLst>
              <a:gd name="adj" fmla="val 6667"/>
            </a:avLst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92608" y="6457950"/>
            <a:ext cx="318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Luxturna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292608" y="6805422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080"/>
                </a:solidFill>
              </a:rPr>
              <a:t>2017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292608" y="7061454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CDD"/>
                </a:solidFill>
              </a:rPr>
              <a:t>Retina · AAV2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569208" y="6403086"/>
            <a:ext cx="3185160" cy="960120"/>
          </a:xfrm>
          <a:prstGeom prst="roundRect">
            <a:avLst>
              <a:gd name="adj" fmla="val 6667"/>
            </a:avLst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69208" y="6457950"/>
            <a:ext cx="318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Zolgensma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3569208" y="6805422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080"/>
                </a:solidFill>
              </a:rPr>
              <a:t>2019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569208" y="7061454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CDD"/>
                </a:solidFill>
              </a:rPr>
              <a:t>CNS · AAV9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845808" y="6403086"/>
            <a:ext cx="3185160" cy="960120"/>
          </a:xfrm>
          <a:prstGeom prst="roundRect">
            <a:avLst>
              <a:gd name="adj" fmla="val 6667"/>
            </a:avLst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845808" y="6457950"/>
            <a:ext cx="3185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Hemgenix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6845808" y="6805422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080"/>
                </a:solidFill>
              </a:rPr>
              <a:t>2022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6845808" y="7061454"/>
            <a:ext cx="3185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CDD"/>
                </a:solidFill>
              </a:rPr>
              <a:t>Liver · AAV5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92608" y="7454646"/>
            <a:ext cx="973836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These approvals act as platform precedents: the regulatory, safety and manufacturing work done for one indication can de-risk a subsequent programme in the same vector-tissue space.</a:t>
            </a:r>
            <a:endParaRPr lang="en-US" sz="1700" dirty="0"/>
          </a:p>
        </p:txBody>
      </p:sp>
      <p:sp>
        <p:nvSpPr>
          <p:cNvPr id="31" name="Shape 28"/>
          <p:cNvSpPr/>
          <p:nvPr/>
        </p:nvSpPr>
        <p:spPr>
          <a:xfrm>
            <a:off x="292608" y="8508492"/>
            <a:ext cx="9738360" cy="1729313"/>
          </a:xfrm>
          <a:prstGeom prst="roundRect">
            <a:avLst>
              <a:gd name="adj" fmla="val 4230"/>
            </a:avLst>
          </a:prstGeom>
          <a:solidFill>
            <a:srgbClr val="F9E0E0"/>
          </a:solidFill>
          <a:ln w="19050">
            <a:solidFill>
              <a:srgbClr val="D4012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8599932"/>
            <a:ext cx="9409176" cy="15464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4012D"/>
                </a:solidFill>
              </a:rPr>
              <a:t>The Gap
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Which existing approved programme is the best biological and regulatory precedent for a given untreated disease? This critical question is currently answered manually — inaccessible to small research groups. NanoGT provides an open, systematic alternative.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292608" y="10402397"/>
            <a:ext cx="9738360" cy="45720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92608" y="10402397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METHODS</a:t>
            </a:r>
            <a:endParaRPr lang="en-US" sz="1900" dirty="0"/>
          </a:p>
        </p:txBody>
      </p:sp>
      <p:sp>
        <p:nvSpPr>
          <p:cNvPr id="35" name="Text 32"/>
          <p:cNvSpPr/>
          <p:nvPr/>
        </p:nvSpPr>
        <p:spPr>
          <a:xfrm>
            <a:off x="292608" y="11024189"/>
            <a:ext cx="973836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NanoGT is a Python CLI tool. Given an Orphanet ID, it queries public biological databases and scores all programs in a curated surrogate database, returning a ranked match list.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292608" y="12078035"/>
            <a:ext cx="9738360" cy="457200"/>
          </a:xfrm>
          <a:prstGeom prst="roundRect">
            <a:avLst>
              <a:gd name="adj" fmla="val 12000"/>
            </a:avLst>
          </a:prstGeom>
          <a:solidFill>
            <a:srgbClr val="1E2438"/>
          </a:solidFill>
          <a:ln w="12700">
            <a:solidFill>
              <a:srgbClr val="33446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12078035"/>
            <a:ext cx="9409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nanogt match ORPHA:70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292608" y="12681539"/>
            <a:ext cx="365760" cy="365760"/>
          </a:xfrm>
          <a:prstGeom prst="ellipse">
            <a:avLst/>
          </a:prstGeom>
          <a:solidFill>
            <a:srgbClr val="D4012D"/>
          </a:solidFill>
          <a:ln w="12700">
            <a:solidFill>
              <a:srgbClr val="D4012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92608" y="1268153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49808" y="12644963"/>
            <a:ext cx="9281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Query Orphanet for disease phenotype and causal gene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292608" y="13211891"/>
            <a:ext cx="365760" cy="365760"/>
          </a:xfrm>
          <a:prstGeom prst="ellipse">
            <a:avLst/>
          </a:prstGeom>
          <a:solidFill>
            <a:srgbClr val="D4012D"/>
          </a:solidFill>
          <a:ln w="12700">
            <a:solidFill>
              <a:srgbClr val="D4012D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92608" y="13211891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49808" y="13175315"/>
            <a:ext cx="9281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Retrieve gene properties from UniProt (size, protein class, tissue)</a:t>
            </a:r>
            <a:endParaRPr lang="en-US" sz="1700" dirty="0"/>
          </a:p>
        </p:txBody>
      </p:sp>
      <p:sp>
        <p:nvSpPr>
          <p:cNvPr id="44" name="Shape 41"/>
          <p:cNvSpPr/>
          <p:nvPr/>
        </p:nvSpPr>
        <p:spPr>
          <a:xfrm>
            <a:off x="292608" y="13742243"/>
            <a:ext cx="365760" cy="365760"/>
          </a:xfrm>
          <a:prstGeom prst="ellipse">
            <a:avLst/>
          </a:prstGeom>
          <a:solidFill>
            <a:srgbClr val="D4012D"/>
          </a:solidFill>
          <a:ln w="12700">
            <a:solidFill>
              <a:srgbClr val="D4012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92608" y="1374224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749808" y="13705667"/>
            <a:ext cx="9281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Score 21 GT programmes across 14 dimensions → composite /10</a:t>
            </a:r>
            <a:endParaRPr lang="en-US" sz="1700" dirty="0"/>
          </a:p>
        </p:txBody>
      </p:sp>
      <p:sp>
        <p:nvSpPr>
          <p:cNvPr id="47" name="Shape 44"/>
          <p:cNvSpPr/>
          <p:nvPr/>
        </p:nvSpPr>
        <p:spPr>
          <a:xfrm>
            <a:off x="292608" y="14272595"/>
            <a:ext cx="365760" cy="365760"/>
          </a:xfrm>
          <a:prstGeom prst="ellipse">
            <a:avLst/>
          </a:prstGeom>
          <a:solidFill>
            <a:srgbClr val="D4012D"/>
          </a:solidFill>
          <a:ln w="12700">
            <a:solidFill>
              <a:srgbClr val="D4012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292608" y="142725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749808" y="14236019"/>
            <a:ext cx="9281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Output ranked precedent list with confidence classification</a:t>
            </a:r>
            <a:endParaRPr lang="en-US" sz="1700" dirty="0"/>
          </a:p>
        </p:txBody>
      </p:sp>
      <p:sp>
        <p:nvSpPr>
          <p:cNvPr id="50" name="Text 47"/>
          <p:cNvSpPr/>
          <p:nvPr/>
        </p:nvSpPr>
        <p:spPr>
          <a:xfrm>
            <a:off x="292608" y="14930963"/>
            <a:ext cx="9738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14 Scoring Dimensions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292608" y="15369875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48640" y="15296723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Packaging fit</a:t>
            </a:r>
            <a:endParaRPr lang="en-US" sz="1500" dirty="0"/>
          </a:p>
        </p:txBody>
      </p:sp>
      <p:sp>
        <p:nvSpPr>
          <p:cNvPr id="53" name="Shape 50"/>
          <p:cNvSpPr/>
          <p:nvPr/>
        </p:nvSpPr>
        <p:spPr>
          <a:xfrm>
            <a:off x="5207508" y="15369875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463540" y="15296723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Vector immunogenicity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292608" y="15680771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8640" y="15607619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Tissue tropism</a:t>
            </a:r>
            <a:endParaRPr lang="en-US" sz="1500" dirty="0"/>
          </a:p>
        </p:txBody>
      </p:sp>
      <p:sp>
        <p:nvSpPr>
          <p:cNvPr id="57" name="Shape 54"/>
          <p:cNvSpPr/>
          <p:nvPr/>
        </p:nvSpPr>
        <p:spPr>
          <a:xfrm>
            <a:off x="5207508" y="15680771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463540" y="15607619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Therapeutic window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292608" y="15991667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48640" y="15918515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Protein class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5207508" y="15991667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463540" y="15918515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Immune privilege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292608" y="16302563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48640" y="16229411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Pathway similarity</a:t>
            </a:r>
            <a:endParaRPr lang="en-US" sz="1500" dirty="0"/>
          </a:p>
        </p:txBody>
      </p:sp>
      <p:sp>
        <p:nvSpPr>
          <p:cNvPr id="65" name="Shape 62"/>
          <p:cNvSpPr/>
          <p:nvPr/>
        </p:nvSpPr>
        <p:spPr>
          <a:xfrm>
            <a:off x="5207508" y="16302563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463540" y="16229411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Promoter availability</a:t>
            </a:r>
            <a:endParaRPr lang="en-US" sz="1500" dirty="0"/>
          </a:p>
        </p:txBody>
      </p:sp>
      <p:sp>
        <p:nvSpPr>
          <p:cNvPr id="67" name="Shape 64"/>
          <p:cNvSpPr/>
          <p:nvPr/>
        </p:nvSpPr>
        <p:spPr>
          <a:xfrm>
            <a:off x="292608" y="16613459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548640" y="16540307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Mechanism compatibility</a:t>
            </a:r>
            <a:endParaRPr lang="en-US" sz="1500" dirty="0"/>
          </a:p>
        </p:txBody>
      </p:sp>
      <p:sp>
        <p:nvSpPr>
          <p:cNvPr id="69" name="Shape 66"/>
          <p:cNvSpPr/>
          <p:nvPr/>
        </p:nvSpPr>
        <p:spPr>
          <a:xfrm>
            <a:off x="5207508" y="16613459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463540" y="16540307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Route of administration</a:t>
            </a:r>
            <a:endParaRPr lang="en-US" sz="1500" dirty="0"/>
          </a:p>
        </p:txBody>
      </p:sp>
      <p:sp>
        <p:nvSpPr>
          <p:cNvPr id="71" name="Shape 68"/>
          <p:cNvSpPr/>
          <p:nvPr/>
        </p:nvSpPr>
        <p:spPr>
          <a:xfrm>
            <a:off x="292608" y="16924355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48640" y="16851203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Inheritance pattern</a:t>
            </a:r>
            <a:endParaRPr lang="en-US" sz="1500" dirty="0"/>
          </a:p>
        </p:txBody>
      </p:sp>
      <p:sp>
        <p:nvSpPr>
          <p:cNvPr id="73" name="Shape 70"/>
          <p:cNvSpPr/>
          <p:nvPr/>
        </p:nvSpPr>
        <p:spPr>
          <a:xfrm>
            <a:off x="5207508" y="16924355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463540" y="16851203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Organelle targeting</a:t>
            </a:r>
            <a:endParaRPr lang="en-US" sz="1500" dirty="0"/>
          </a:p>
        </p:txBody>
      </p:sp>
      <p:sp>
        <p:nvSpPr>
          <p:cNvPr id="75" name="Shape 72"/>
          <p:cNvSpPr/>
          <p:nvPr/>
        </p:nvSpPr>
        <p:spPr>
          <a:xfrm>
            <a:off x="292608" y="17235251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48640" y="17162099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Regulatory stage</a:t>
            </a:r>
            <a:endParaRPr lang="en-US" sz="1500" dirty="0"/>
          </a:p>
        </p:txBody>
      </p:sp>
      <p:sp>
        <p:nvSpPr>
          <p:cNvPr id="77" name="Shape 74"/>
          <p:cNvSpPr/>
          <p:nvPr/>
        </p:nvSpPr>
        <p:spPr>
          <a:xfrm>
            <a:off x="5207508" y="17235251"/>
            <a:ext cx="201168" cy="201168"/>
          </a:xfrm>
          <a:prstGeom prst="ellipse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463540" y="17162099"/>
            <a:ext cx="45674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Cross-correction potential</a:t>
            </a:r>
            <a:endParaRPr lang="en-US" sz="1500" dirty="0"/>
          </a:p>
        </p:txBody>
      </p:sp>
      <p:sp>
        <p:nvSpPr>
          <p:cNvPr id="79" name="Text 76"/>
          <p:cNvSpPr/>
          <p:nvPr/>
        </p:nvSpPr>
        <p:spPr>
          <a:xfrm>
            <a:off x="292608" y="17564435"/>
            <a:ext cx="9738360" cy="5897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</a:rPr>
              <a:t>Score ≥ 7.5 = HIGH confidence  ·  ≥ 5.0 = MEDIUM  ·  CDS &gt; vector capacity = packaging fail</a:t>
            </a:r>
            <a:endParaRPr lang="en-US" sz="1500" dirty="0"/>
          </a:p>
        </p:txBody>
      </p:sp>
      <p:sp>
        <p:nvSpPr>
          <p:cNvPr id="80" name="Shape 77"/>
          <p:cNvSpPr/>
          <p:nvPr/>
        </p:nvSpPr>
        <p:spPr>
          <a:xfrm>
            <a:off x="10268712" y="3401568"/>
            <a:ext cx="9738360" cy="45720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0268712" y="3401568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RESULTS &amp; DISCUSSION</a:t>
            </a:r>
            <a:endParaRPr lang="en-US" sz="1900" dirty="0"/>
          </a:p>
        </p:txBody>
      </p:sp>
      <p:sp>
        <p:nvSpPr>
          <p:cNvPr id="82" name="Shape 79"/>
          <p:cNvSpPr/>
          <p:nvPr/>
        </p:nvSpPr>
        <p:spPr>
          <a:xfrm>
            <a:off x="10268712" y="4023360"/>
            <a:ext cx="3172968" cy="1298448"/>
          </a:xfrm>
          <a:prstGeom prst="roundRect">
            <a:avLst>
              <a:gd name="adj" fmla="val 7042"/>
            </a:avLst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0268712" y="411480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46</a:t>
            </a:r>
            <a:endParaRPr lang="en-US" sz="5000" dirty="0"/>
          </a:p>
        </p:txBody>
      </p:sp>
      <p:sp>
        <p:nvSpPr>
          <p:cNvPr id="84" name="Text 81"/>
          <p:cNvSpPr/>
          <p:nvPr/>
        </p:nvSpPr>
        <p:spPr>
          <a:xfrm>
            <a:off x="10268712" y="4919472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DDF0"/>
                </a:solidFill>
              </a:rPr>
              <a:t>diseases tested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13551408" y="4023360"/>
            <a:ext cx="3172968" cy="1298448"/>
          </a:xfrm>
          <a:prstGeom prst="roundRect">
            <a:avLst>
              <a:gd name="adj" fmla="val 7042"/>
            </a:avLst>
          </a:prstGeom>
          <a:solidFill>
            <a:srgbClr val="D4012D"/>
          </a:solidFill>
          <a:ln w="12700">
            <a:solidFill>
              <a:srgbClr val="D4012D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13551408" y="411480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14</a:t>
            </a:r>
            <a:endParaRPr lang="en-US" sz="5000" dirty="0"/>
          </a:p>
        </p:txBody>
      </p:sp>
      <p:sp>
        <p:nvSpPr>
          <p:cNvPr id="87" name="Text 84"/>
          <p:cNvSpPr/>
          <p:nvPr/>
        </p:nvSpPr>
        <p:spPr>
          <a:xfrm>
            <a:off x="13551408" y="4919472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DDF0"/>
                </a:solidFill>
              </a:rPr>
              <a:t>scoring dimensions</a:t>
            </a:r>
            <a:endParaRPr lang="en-US" sz="1400" dirty="0"/>
          </a:p>
        </p:txBody>
      </p:sp>
      <p:sp>
        <p:nvSpPr>
          <p:cNvPr id="88" name="Shape 85"/>
          <p:cNvSpPr/>
          <p:nvPr/>
        </p:nvSpPr>
        <p:spPr>
          <a:xfrm>
            <a:off x="16834104" y="4023360"/>
            <a:ext cx="3172968" cy="1298448"/>
          </a:xfrm>
          <a:prstGeom prst="roundRect">
            <a:avLst>
              <a:gd name="adj" fmla="val 7042"/>
            </a:avLst>
          </a:prstGeom>
          <a:solidFill>
            <a:srgbClr val="006666"/>
          </a:solidFill>
          <a:ln w="12700">
            <a:solidFill>
              <a:srgbClr val="006666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6834104" y="411480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21</a:t>
            </a:r>
            <a:endParaRPr lang="en-US" sz="5000" dirty="0"/>
          </a:p>
        </p:txBody>
      </p:sp>
      <p:sp>
        <p:nvSpPr>
          <p:cNvPr id="90" name="Text 87"/>
          <p:cNvSpPr/>
          <p:nvPr/>
        </p:nvSpPr>
        <p:spPr>
          <a:xfrm>
            <a:off x="16834104" y="4919472"/>
            <a:ext cx="3172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DDF0"/>
                </a:solidFill>
              </a:rPr>
              <a:t>GT programmes ranked</a:t>
            </a:r>
            <a:endParaRPr lang="en-US" sz="1400" dirty="0"/>
          </a:p>
        </p:txBody>
      </p:sp>
      <p:sp>
        <p:nvSpPr>
          <p:cNvPr id="91" name="Text 88"/>
          <p:cNvSpPr/>
          <p:nvPr/>
        </p:nvSpPr>
        <p:spPr>
          <a:xfrm>
            <a:off x="10268712" y="5504688"/>
            <a:ext cx="9738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Validation: Positive Controls</a:t>
            </a:r>
            <a:endParaRPr lang="en-US" sz="2000" dirty="0"/>
          </a:p>
        </p:txBody>
      </p:sp>
      <p:sp>
        <p:nvSpPr>
          <p:cNvPr id="92" name="Shape 89"/>
          <p:cNvSpPr/>
          <p:nvPr/>
        </p:nvSpPr>
        <p:spPr>
          <a:xfrm>
            <a:off x="10268712" y="5870448"/>
            <a:ext cx="2926080" cy="36576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10341864" y="587044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Disease</a:t>
            </a:r>
            <a:endParaRPr lang="en-US" sz="1600" dirty="0"/>
          </a:p>
        </p:txBody>
      </p:sp>
      <p:sp>
        <p:nvSpPr>
          <p:cNvPr id="94" name="Shape 91"/>
          <p:cNvSpPr/>
          <p:nvPr/>
        </p:nvSpPr>
        <p:spPr>
          <a:xfrm>
            <a:off x="13194792" y="5870448"/>
            <a:ext cx="777240" cy="36576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3267944" y="5870448"/>
            <a:ext cx="630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</a:t>
            </a:r>
            <a:endParaRPr lang="en-US" sz="1600" dirty="0"/>
          </a:p>
        </p:txBody>
      </p:sp>
      <p:sp>
        <p:nvSpPr>
          <p:cNvPr id="96" name="Shape 93"/>
          <p:cNvSpPr/>
          <p:nvPr/>
        </p:nvSpPr>
        <p:spPr>
          <a:xfrm>
            <a:off x="13972032" y="5870448"/>
            <a:ext cx="2606040" cy="36576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4045184" y="587044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 Precedent</a:t>
            </a:r>
            <a:endParaRPr lang="en-US" sz="1600" dirty="0"/>
          </a:p>
        </p:txBody>
      </p:sp>
      <p:sp>
        <p:nvSpPr>
          <p:cNvPr id="98" name="Shape 95"/>
          <p:cNvSpPr/>
          <p:nvPr/>
        </p:nvSpPr>
        <p:spPr>
          <a:xfrm>
            <a:off x="16578072" y="5870448"/>
            <a:ext cx="804672" cy="36576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16651224" y="587044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Vector</a:t>
            </a:r>
            <a:endParaRPr lang="en-US" sz="1600" dirty="0"/>
          </a:p>
        </p:txBody>
      </p:sp>
      <p:sp>
        <p:nvSpPr>
          <p:cNvPr id="100" name="Shape 97"/>
          <p:cNvSpPr/>
          <p:nvPr/>
        </p:nvSpPr>
        <p:spPr>
          <a:xfrm>
            <a:off x="17382744" y="5870448"/>
            <a:ext cx="1005840" cy="36576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7455896" y="5870448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Score</a:t>
            </a:r>
            <a:endParaRPr lang="en-US" sz="1600" dirty="0"/>
          </a:p>
        </p:txBody>
      </p:sp>
      <p:sp>
        <p:nvSpPr>
          <p:cNvPr id="102" name="Shape 99"/>
          <p:cNvSpPr/>
          <p:nvPr/>
        </p:nvSpPr>
        <p:spPr>
          <a:xfrm>
            <a:off x="18388584" y="5870448"/>
            <a:ext cx="1170432" cy="36576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8461736" y="587044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Result</a:t>
            </a:r>
            <a:endParaRPr lang="en-US" sz="1600" dirty="0"/>
          </a:p>
        </p:txBody>
      </p:sp>
      <p:sp>
        <p:nvSpPr>
          <p:cNvPr id="104" name="Shape 101"/>
          <p:cNvSpPr/>
          <p:nvPr/>
        </p:nvSpPr>
        <p:spPr>
          <a:xfrm>
            <a:off x="10268712" y="6236208"/>
            <a:ext cx="29260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341864" y="623620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Spinal Muscular Atrophy</a:t>
            </a:r>
            <a:endParaRPr lang="en-US" sz="1500" dirty="0"/>
          </a:p>
        </p:txBody>
      </p:sp>
      <p:sp>
        <p:nvSpPr>
          <p:cNvPr id="106" name="Shape 103"/>
          <p:cNvSpPr/>
          <p:nvPr/>
        </p:nvSpPr>
        <p:spPr>
          <a:xfrm>
            <a:off x="13194792" y="6236208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13267944" y="6236208"/>
            <a:ext cx="630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SMN1</a:t>
            </a:r>
            <a:endParaRPr lang="en-US" sz="1500" dirty="0"/>
          </a:p>
        </p:txBody>
      </p:sp>
      <p:sp>
        <p:nvSpPr>
          <p:cNvPr id="108" name="Shape 105"/>
          <p:cNvSpPr/>
          <p:nvPr/>
        </p:nvSpPr>
        <p:spPr>
          <a:xfrm>
            <a:off x="13972032" y="6236208"/>
            <a:ext cx="2606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4045184" y="623620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Zolgensma / OAV101-IT</a:t>
            </a:r>
            <a:endParaRPr lang="en-US" sz="1500" dirty="0"/>
          </a:p>
        </p:txBody>
      </p:sp>
      <p:sp>
        <p:nvSpPr>
          <p:cNvPr id="110" name="Shape 107"/>
          <p:cNvSpPr/>
          <p:nvPr/>
        </p:nvSpPr>
        <p:spPr>
          <a:xfrm>
            <a:off x="16578072" y="6236208"/>
            <a:ext cx="80467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16651224" y="623620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AAV9</a:t>
            </a:r>
            <a:endParaRPr lang="en-US" sz="1500" dirty="0"/>
          </a:p>
        </p:txBody>
      </p:sp>
      <p:sp>
        <p:nvSpPr>
          <p:cNvPr id="112" name="Shape 109"/>
          <p:cNvSpPr/>
          <p:nvPr/>
        </p:nvSpPr>
        <p:spPr>
          <a:xfrm>
            <a:off x="17382744" y="6236208"/>
            <a:ext cx="1005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7455896" y="6236208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8.3/10</a:t>
            </a:r>
            <a:endParaRPr lang="en-US" sz="1500" dirty="0"/>
          </a:p>
        </p:txBody>
      </p:sp>
      <p:sp>
        <p:nvSpPr>
          <p:cNvPr id="114" name="Shape 111"/>
          <p:cNvSpPr/>
          <p:nvPr/>
        </p:nvSpPr>
        <p:spPr>
          <a:xfrm>
            <a:off x="18388584" y="6236208"/>
            <a:ext cx="117043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8461736" y="623620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✓ High</a:t>
            </a:r>
            <a:endParaRPr lang="en-US" sz="1500" dirty="0"/>
          </a:p>
        </p:txBody>
      </p:sp>
      <p:sp>
        <p:nvSpPr>
          <p:cNvPr id="116" name="Shape 113"/>
          <p:cNvSpPr/>
          <p:nvPr/>
        </p:nvSpPr>
        <p:spPr>
          <a:xfrm>
            <a:off x="10268712" y="6601968"/>
            <a:ext cx="292608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10341864" y="660196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Hemophilia B</a:t>
            </a:r>
            <a:endParaRPr lang="en-US" sz="1500" dirty="0"/>
          </a:p>
        </p:txBody>
      </p:sp>
      <p:sp>
        <p:nvSpPr>
          <p:cNvPr id="118" name="Shape 115"/>
          <p:cNvSpPr/>
          <p:nvPr/>
        </p:nvSpPr>
        <p:spPr>
          <a:xfrm>
            <a:off x="13194792" y="6601968"/>
            <a:ext cx="77724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13267944" y="6601968"/>
            <a:ext cx="630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F9</a:t>
            </a:r>
            <a:endParaRPr lang="en-US" sz="1500" dirty="0"/>
          </a:p>
        </p:txBody>
      </p:sp>
      <p:sp>
        <p:nvSpPr>
          <p:cNvPr id="120" name="Shape 117"/>
          <p:cNvSpPr/>
          <p:nvPr/>
        </p:nvSpPr>
        <p:spPr>
          <a:xfrm>
            <a:off x="13972032" y="6601968"/>
            <a:ext cx="260604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14045184" y="660196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Hemgenix</a:t>
            </a:r>
            <a:endParaRPr lang="en-US" sz="1500" dirty="0"/>
          </a:p>
        </p:txBody>
      </p:sp>
      <p:sp>
        <p:nvSpPr>
          <p:cNvPr id="122" name="Shape 119"/>
          <p:cNvSpPr/>
          <p:nvPr/>
        </p:nvSpPr>
        <p:spPr>
          <a:xfrm>
            <a:off x="16578072" y="6601968"/>
            <a:ext cx="804672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16651224" y="660196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AAV5</a:t>
            </a:r>
            <a:endParaRPr lang="en-US" sz="1500" dirty="0"/>
          </a:p>
        </p:txBody>
      </p:sp>
      <p:sp>
        <p:nvSpPr>
          <p:cNvPr id="124" name="Shape 121"/>
          <p:cNvSpPr/>
          <p:nvPr/>
        </p:nvSpPr>
        <p:spPr>
          <a:xfrm>
            <a:off x="17382744" y="6601968"/>
            <a:ext cx="100584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7455896" y="6601968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9.9/10</a:t>
            </a:r>
            <a:endParaRPr lang="en-US" sz="1500" dirty="0"/>
          </a:p>
        </p:txBody>
      </p:sp>
      <p:sp>
        <p:nvSpPr>
          <p:cNvPr id="126" name="Shape 123"/>
          <p:cNvSpPr/>
          <p:nvPr/>
        </p:nvSpPr>
        <p:spPr>
          <a:xfrm>
            <a:off x="18388584" y="6601968"/>
            <a:ext cx="1170432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18461736" y="660196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✓ High</a:t>
            </a:r>
            <a:endParaRPr lang="en-US" sz="1500" dirty="0"/>
          </a:p>
        </p:txBody>
      </p:sp>
      <p:sp>
        <p:nvSpPr>
          <p:cNvPr id="128" name="Shape 125"/>
          <p:cNvSpPr/>
          <p:nvPr/>
        </p:nvSpPr>
        <p:spPr>
          <a:xfrm>
            <a:off x="10268712" y="6967728"/>
            <a:ext cx="29260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0341864" y="696772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Hemophilia A</a:t>
            </a:r>
            <a:endParaRPr lang="en-US" sz="1500" dirty="0"/>
          </a:p>
        </p:txBody>
      </p:sp>
      <p:sp>
        <p:nvSpPr>
          <p:cNvPr id="130" name="Shape 127"/>
          <p:cNvSpPr/>
          <p:nvPr/>
        </p:nvSpPr>
        <p:spPr>
          <a:xfrm>
            <a:off x="13194792" y="6967728"/>
            <a:ext cx="7772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13267944" y="6967728"/>
            <a:ext cx="630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F8</a:t>
            </a:r>
            <a:endParaRPr lang="en-US" sz="1500" dirty="0"/>
          </a:p>
        </p:txBody>
      </p:sp>
      <p:sp>
        <p:nvSpPr>
          <p:cNvPr id="132" name="Shape 129"/>
          <p:cNvSpPr/>
          <p:nvPr/>
        </p:nvSpPr>
        <p:spPr>
          <a:xfrm>
            <a:off x="13972032" y="6967728"/>
            <a:ext cx="26060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14045184" y="696772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Hemgenix</a:t>
            </a:r>
            <a:endParaRPr lang="en-US" sz="1500" dirty="0"/>
          </a:p>
        </p:txBody>
      </p:sp>
      <p:sp>
        <p:nvSpPr>
          <p:cNvPr id="134" name="Shape 131"/>
          <p:cNvSpPr/>
          <p:nvPr/>
        </p:nvSpPr>
        <p:spPr>
          <a:xfrm>
            <a:off x="16578072" y="6967728"/>
            <a:ext cx="80467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16651224" y="696772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AAV5</a:t>
            </a:r>
            <a:endParaRPr lang="en-US" sz="1500" dirty="0"/>
          </a:p>
        </p:txBody>
      </p:sp>
      <p:sp>
        <p:nvSpPr>
          <p:cNvPr id="136" name="Shape 133"/>
          <p:cNvSpPr/>
          <p:nvPr/>
        </p:nvSpPr>
        <p:spPr>
          <a:xfrm>
            <a:off x="17382744" y="6967728"/>
            <a:ext cx="100584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17455896" y="6967728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8.5/10</a:t>
            </a:r>
            <a:endParaRPr lang="en-US" sz="1500" dirty="0"/>
          </a:p>
        </p:txBody>
      </p:sp>
      <p:sp>
        <p:nvSpPr>
          <p:cNvPr id="138" name="Shape 135"/>
          <p:cNvSpPr/>
          <p:nvPr/>
        </p:nvSpPr>
        <p:spPr>
          <a:xfrm>
            <a:off x="18388584" y="6967728"/>
            <a:ext cx="1170432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18461736" y="696772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✓ High</a:t>
            </a:r>
            <a:endParaRPr lang="en-US" sz="1500" dirty="0"/>
          </a:p>
        </p:txBody>
      </p:sp>
      <p:sp>
        <p:nvSpPr>
          <p:cNvPr id="140" name="Shape 137"/>
          <p:cNvSpPr/>
          <p:nvPr/>
        </p:nvSpPr>
        <p:spPr>
          <a:xfrm>
            <a:off x="10268712" y="7333488"/>
            <a:ext cx="292608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10341864" y="7333488"/>
            <a:ext cx="2779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ADA-SCID</a:t>
            </a:r>
            <a:endParaRPr lang="en-US" sz="1500" dirty="0"/>
          </a:p>
        </p:txBody>
      </p:sp>
      <p:sp>
        <p:nvSpPr>
          <p:cNvPr id="142" name="Shape 139"/>
          <p:cNvSpPr/>
          <p:nvPr/>
        </p:nvSpPr>
        <p:spPr>
          <a:xfrm>
            <a:off x="13194792" y="7333488"/>
            <a:ext cx="77724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13267944" y="7333488"/>
            <a:ext cx="630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ADA</a:t>
            </a:r>
            <a:endParaRPr lang="en-US" sz="1500" dirty="0"/>
          </a:p>
        </p:txBody>
      </p:sp>
      <p:sp>
        <p:nvSpPr>
          <p:cNvPr id="144" name="Shape 141"/>
          <p:cNvSpPr/>
          <p:nvPr/>
        </p:nvSpPr>
        <p:spPr>
          <a:xfrm>
            <a:off x="13972032" y="7333488"/>
            <a:ext cx="260604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4045184" y="7333488"/>
            <a:ext cx="24597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Strimvelis</a:t>
            </a:r>
            <a:endParaRPr lang="en-US" sz="1500" dirty="0"/>
          </a:p>
        </p:txBody>
      </p:sp>
      <p:sp>
        <p:nvSpPr>
          <p:cNvPr id="146" name="Shape 143"/>
          <p:cNvSpPr/>
          <p:nvPr/>
        </p:nvSpPr>
        <p:spPr>
          <a:xfrm>
            <a:off x="16578072" y="7333488"/>
            <a:ext cx="804672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16651224" y="733348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LV</a:t>
            </a:r>
            <a:endParaRPr lang="en-US" sz="1500" dirty="0"/>
          </a:p>
        </p:txBody>
      </p:sp>
      <p:sp>
        <p:nvSpPr>
          <p:cNvPr id="148" name="Shape 145"/>
          <p:cNvSpPr/>
          <p:nvPr/>
        </p:nvSpPr>
        <p:spPr>
          <a:xfrm>
            <a:off x="17382744" y="7333488"/>
            <a:ext cx="1005840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17455896" y="7333488"/>
            <a:ext cx="8595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8.1/10</a:t>
            </a:r>
            <a:endParaRPr lang="en-US" sz="1500" dirty="0"/>
          </a:p>
        </p:txBody>
      </p:sp>
      <p:sp>
        <p:nvSpPr>
          <p:cNvPr id="150" name="Shape 147"/>
          <p:cNvSpPr/>
          <p:nvPr/>
        </p:nvSpPr>
        <p:spPr>
          <a:xfrm>
            <a:off x="18388584" y="7333488"/>
            <a:ext cx="1170432" cy="36576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18461736" y="7333488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✓ High</a:t>
            </a:r>
            <a:endParaRPr lang="en-US" sz="1500" dirty="0"/>
          </a:p>
        </p:txBody>
      </p:sp>
      <p:sp>
        <p:nvSpPr>
          <p:cNvPr id="152" name="Text 149"/>
          <p:cNvSpPr/>
          <p:nvPr/>
        </p:nvSpPr>
        <p:spPr>
          <a:xfrm>
            <a:off x="10268712" y="7790688"/>
            <a:ext cx="9738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6B2F"/>
                </a:solidFill>
              </a:rPr>
              <a:t>All positive controls recovered their expected clinical precedent as the top-ranked match.</a:t>
            </a:r>
            <a:endParaRPr lang="en-US" sz="1500" dirty="0"/>
          </a:p>
        </p:txBody>
      </p:sp>
      <p:sp>
        <p:nvSpPr>
          <p:cNvPr id="153" name="Text 150"/>
          <p:cNvSpPr/>
          <p:nvPr/>
        </p:nvSpPr>
        <p:spPr>
          <a:xfrm>
            <a:off x="10268712" y="8193024"/>
            <a:ext cx="9738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Pilot Cohort — Selected Results</a:t>
            </a:r>
            <a:endParaRPr lang="en-US" sz="2000" dirty="0"/>
          </a:p>
        </p:txBody>
      </p:sp>
      <p:sp>
        <p:nvSpPr>
          <p:cNvPr id="154" name="Shape 151"/>
          <p:cNvSpPr/>
          <p:nvPr/>
        </p:nvSpPr>
        <p:spPr>
          <a:xfrm>
            <a:off x="10268712" y="8558784"/>
            <a:ext cx="3063240" cy="32004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10341864" y="855878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Disease</a:t>
            </a:r>
            <a:endParaRPr lang="en-US" sz="1600" dirty="0"/>
          </a:p>
        </p:txBody>
      </p:sp>
      <p:sp>
        <p:nvSpPr>
          <p:cNvPr id="156" name="Shape 153"/>
          <p:cNvSpPr/>
          <p:nvPr/>
        </p:nvSpPr>
        <p:spPr>
          <a:xfrm>
            <a:off x="13331952" y="8558784"/>
            <a:ext cx="804672" cy="32004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13405104" y="855878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Gene</a:t>
            </a:r>
            <a:endParaRPr lang="en-US" sz="1600" dirty="0"/>
          </a:p>
        </p:txBody>
      </p:sp>
      <p:sp>
        <p:nvSpPr>
          <p:cNvPr id="158" name="Shape 155"/>
          <p:cNvSpPr/>
          <p:nvPr/>
        </p:nvSpPr>
        <p:spPr>
          <a:xfrm>
            <a:off x="14136624" y="8558784"/>
            <a:ext cx="2834640" cy="32004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14209776" y="855878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Top Precedent</a:t>
            </a:r>
            <a:endParaRPr lang="en-US" sz="1600" dirty="0"/>
          </a:p>
        </p:txBody>
      </p:sp>
      <p:sp>
        <p:nvSpPr>
          <p:cNvPr id="160" name="Shape 157"/>
          <p:cNvSpPr/>
          <p:nvPr/>
        </p:nvSpPr>
        <p:spPr>
          <a:xfrm>
            <a:off x="16971264" y="8558784"/>
            <a:ext cx="822960" cy="32004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17044416" y="855878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Score</a:t>
            </a:r>
            <a:endParaRPr lang="en-US" sz="1600" dirty="0"/>
          </a:p>
        </p:txBody>
      </p:sp>
      <p:sp>
        <p:nvSpPr>
          <p:cNvPr id="162" name="Shape 159"/>
          <p:cNvSpPr/>
          <p:nvPr/>
        </p:nvSpPr>
        <p:spPr>
          <a:xfrm>
            <a:off x="17794224" y="8558784"/>
            <a:ext cx="1764792" cy="320040"/>
          </a:xfrm>
          <a:prstGeom prst="rect">
            <a:avLst/>
          </a:prstGeom>
          <a:solidFill>
            <a:srgbClr val="003E74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17867376" y="855878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Confidence</a:t>
            </a:r>
            <a:endParaRPr lang="en-US" sz="1600" dirty="0"/>
          </a:p>
        </p:txBody>
      </p:sp>
      <p:sp>
        <p:nvSpPr>
          <p:cNvPr id="164" name="Shape 161"/>
          <p:cNvSpPr/>
          <p:nvPr/>
        </p:nvSpPr>
        <p:spPr>
          <a:xfrm>
            <a:off x="10268712" y="8878824"/>
            <a:ext cx="3063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0341864" y="887882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MPS type I</a:t>
            </a:r>
            <a:endParaRPr lang="en-US" sz="1500" dirty="0"/>
          </a:p>
        </p:txBody>
      </p:sp>
      <p:sp>
        <p:nvSpPr>
          <p:cNvPr id="166" name="Shape 163"/>
          <p:cNvSpPr/>
          <p:nvPr/>
        </p:nvSpPr>
        <p:spPr>
          <a:xfrm>
            <a:off x="13331952" y="8878824"/>
            <a:ext cx="80467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13405104" y="887882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IDUA</a:t>
            </a:r>
            <a:endParaRPr lang="en-US" sz="1500" dirty="0"/>
          </a:p>
        </p:txBody>
      </p:sp>
      <p:sp>
        <p:nvSpPr>
          <p:cNvPr id="168" name="Shape 165"/>
          <p:cNvSpPr/>
          <p:nvPr/>
        </p:nvSpPr>
        <p:spPr>
          <a:xfrm>
            <a:off x="14136624" y="8878824"/>
            <a:ext cx="28346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4209776" y="887882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Libmeldy (LV)</a:t>
            </a:r>
            <a:endParaRPr lang="en-US" sz="1500" dirty="0"/>
          </a:p>
        </p:txBody>
      </p:sp>
      <p:sp>
        <p:nvSpPr>
          <p:cNvPr id="170" name="Shape 167"/>
          <p:cNvSpPr/>
          <p:nvPr/>
        </p:nvSpPr>
        <p:spPr>
          <a:xfrm>
            <a:off x="16971264" y="8878824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17044416" y="887882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9.5/10</a:t>
            </a:r>
            <a:endParaRPr lang="en-US" sz="1500" dirty="0"/>
          </a:p>
        </p:txBody>
      </p:sp>
      <p:sp>
        <p:nvSpPr>
          <p:cNvPr id="172" name="Shape 169"/>
          <p:cNvSpPr/>
          <p:nvPr/>
        </p:nvSpPr>
        <p:spPr>
          <a:xfrm>
            <a:off x="17794224" y="8878824"/>
            <a:ext cx="176479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17867376" y="887882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High</a:t>
            </a:r>
            <a:endParaRPr lang="en-US" sz="1500" dirty="0"/>
          </a:p>
        </p:txBody>
      </p:sp>
      <p:sp>
        <p:nvSpPr>
          <p:cNvPr id="174" name="Shape 171"/>
          <p:cNvSpPr/>
          <p:nvPr/>
        </p:nvSpPr>
        <p:spPr>
          <a:xfrm>
            <a:off x="10268712" y="9198864"/>
            <a:ext cx="306324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10341864" y="919886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MPS type IIIA (Sanfilippo)</a:t>
            </a:r>
            <a:endParaRPr lang="en-US" sz="1500" dirty="0"/>
          </a:p>
        </p:txBody>
      </p:sp>
      <p:sp>
        <p:nvSpPr>
          <p:cNvPr id="176" name="Shape 173"/>
          <p:cNvSpPr/>
          <p:nvPr/>
        </p:nvSpPr>
        <p:spPr>
          <a:xfrm>
            <a:off x="13331952" y="9198864"/>
            <a:ext cx="804672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13405104" y="919886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SGSH</a:t>
            </a:r>
            <a:endParaRPr lang="en-US" sz="1500" dirty="0"/>
          </a:p>
        </p:txBody>
      </p:sp>
      <p:sp>
        <p:nvSpPr>
          <p:cNvPr id="178" name="Shape 175"/>
          <p:cNvSpPr/>
          <p:nvPr/>
        </p:nvSpPr>
        <p:spPr>
          <a:xfrm>
            <a:off x="14136624" y="9198864"/>
            <a:ext cx="283464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14209776" y="919886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Libmeldy (LV)</a:t>
            </a:r>
            <a:endParaRPr lang="en-US" sz="1500" dirty="0"/>
          </a:p>
        </p:txBody>
      </p:sp>
      <p:sp>
        <p:nvSpPr>
          <p:cNvPr id="180" name="Shape 177"/>
          <p:cNvSpPr/>
          <p:nvPr/>
        </p:nvSpPr>
        <p:spPr>
          <a:xfrm>
            <a:off x="16971264" y="9198864"/>
            <a:ext cx="82296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17044416" y="919886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9.2/10</a:t>
            </a:r>
            <a:endParaRPr lang="en-US" sz="1500" dirty="0"/>
          </a:p>
        </p:txBody>
      </p:sp>
      <p:sp>
        <p:nvSpPr>
          <p:cNvPr id="182" name="Shape 179"/>
          <p:cNvSpPr/>
          <p:nvPr/>
        </p:nvSpPr>
        <p:spPr>
          <a:xfrm>
            <a:off x="17794224" y="9198864"/>
            <a:ext cx="1764792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17867376" y="919886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High</a:t>
            </a:r>
            <a:endParaRPr lang="en-US" sz="1500" dirty="0"/>
          </a:p>
        </p:txBody>
      </p:sp>
      <p:sp>
        <p:nvSpPr>
          <p:cNvPr id="184" name="Shape 181"/>
          <p:cNvSpPr/>
          <p:nvPr/>
        </p:nvSpPr>
        <p:spPr>
          <a:xfrm>
            <a:off x="10268712" y="9518904"/>
            <a:ext cx="3063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10341864" y="951890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Metachromatic leukodystrophy</a:t>
            </a:r>
            <a:endParaRPr lang="en-US" sz="1500" dirty="0"/>
          </a:p>
        </p:txBody>
      </p:sp>
      <p:sp>
        <p:nvSpPr>
          <p:cNvPr id="186" name="Shape 183"/>
          <p:cNvSpPr/>
          <p:nvPr/>
        </p:nvSpPr>
        <p:spPr>
          <a:xfrm>
            <a:off x="13331952" y="9518904"/>
            <a:ext cx="80467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13405104" y="951890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ARSA</a:t>
            </a:r>
            <a:endParaRPr lang="en-US" sz="1500" dirty="0"/>
          </a:p>
        </p:txBody>
      </p:sp>
      <p:sp>
        <p:nvSpPr>
          <p:cNvPr id="188" name="Shape 185"/>
          <p:cNvSpPr/>
          <p:nvPr/>
        </p:nvSpPr>
        <p:spPr>
          <a:xfrm>
            <a:off x="14136624" y="9518904"/>
            <a:ext cx="28346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14209776" y="951890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Libmeldy (LV)</a:t>
            </a:r>
            <a:endParaRPr lang="en-US" sz="1500" dirty="0"/>
          </a:p>
        </p:txBody>
      </p:sp>
      <p:sp>
        <p:nvSpPr>
          <p:cNvPr id="190" name="Shape 187"/>
          <p:cNvSpPr/>
          <p:nvPr/>
        </p:nvSpPr>
        <p:spPr>
          <a:xfrm>
            <a:off x="16971264" y="9518904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17044416" y="951890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9.2/10</a:t>
            </a:r>
            <a:endParaRPr lang="en-US" sz="1500" dirty="0"/>
          </a:p>
        </p:txBody>
      </p:sp>
      <p:sp>
        <p:nvSpPr>
          <p:cNvPr id="192" name="Shape 189"/>
          <p:cNvSpPr/>
          <p:nvPr/>
        </p:nvSpPr>
        <p:spPr>
          <a:xfrm>
            <a:off x="17794224" y="9518904"/>
            <a:ext cx="176479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17867376" y="951890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High</a:t>
            </a:r>
            <a:endParaRPr lang="en-US" sz="1500" dirty="0"/>
          </a:p>
        </p:txBody>
      </p:sp>
      <p:sp>
        <p:nvSpPr>
          <p:cNvPr id="194" name="Shape 191"/>
          <p:cNvSpPr/>
          <p:nvPr/>
        </p:nvSpPr>
        <p:spPr>
          <a:xfrm>
            <a:off x="10268712" y="9838944"/>
            <a:ext cx="306324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10341864" y="983894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Fabry disease</a:t>
            </a:r>
            <a:endParaRPr lang="en-US" sz="1500" dirty="0"/>
          </a:p>
        </p:txBody>
      </p:sp>
      <p:sp>
        <p:nvSpPr>
          <p:cNvPr id="196" name="Shape 193"/>
          <p:cNvSpPr/>
          <p:nvPr/>
        </p:nvSpPr>
        <p:spPr>
          <a:xfrm>
            <a:off x="13331952" y="9838944"/>
            <a:ext cx="804672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13405104" y="983894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GLA</a:t>
            </a:r>
            <a:endParaRPr lang="en-US" sz="1500" dirty="0"/>
          </a:p>
        </p:txBody>
      </p:sp>
      <p:sp>
        <p:nvSpPr>
          <p:cNvPr id="198" name="Shape 195"/>
          <p:cNvSpPr/>
          <p:nvPr/>
        </p:nvSpPr>
        <p:spPr>
          <a:xfrm>
            <a:off x="14136624" y="9838944"/>
            <a:ext cx="283464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14209776" y="983894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Libmeldy (LV)</a:t>
            </a:r>
            <a:endParaRPr lang="en-US" sz="1500" dirty="0"/>
          </a:p>
        </p:txBody>
      </p:sp>
      <p:sp>
        <p:nvSpPr>
          <p:cNvPr id="200" name="Shape 197"/>
          <p:cNvSpPr/>
          <p:nvPr/>
        </p:nvSpPr>
        <p:spPr>
          <a:xfrm>
            <a:off x="16971264" y="9838944"/>
            <a:ext cx="82296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17044416" y="983894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6B2F"/>
                </a:solidFill>
              </a:rPr>
              <a:t>8.9/10</a:t>
            </a:r>
            <a:endParaRPr lang="en-US" sz="1500" dirty="0"/>
          </a:p>
        </p:txBody>
      </p:sp>
      <p:sp>
        <p:nvSpPr>
          <p:cNvPr id="202" name="Shape 199"/>
          <p:cNvSpPr/>
          <p:nvPr/>
        </p:nvSpPr>
        <p:spPr>
          <a:xfrm>
            <a:off x="17794224" y="9838944"/>
            <a:ext cx="1764792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17867376" y="983894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High</a:t>
            </a:r>
            <a:endParaRPr lang="en-US" sz="1500" dirty="0"/>
          </a:p>
        </p:txBody>
      </p:sp>
      <p:sp>
        <p:nvSpPr>
          <p:cNvPr id="204" name="Shape 201"/>
          <p:cNvSpPr/>
          <p:nvPr/>
        </p:nvSpPr>
        <p:spPr>
          <a:xfrm>
            <a:off x="10268712" y="10158984"/>
            <a:ext cx="3063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0341864" y="1015898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Duchenne MD (stress test)</a:t>
            </a:r>
            <a:endParaRPr lang="en-US" sz="1500" dirty="0"/>
          </a:p>
        </p:txBody>
      </p:sp>
      <p:sp>
        <p:nvSpPr>
          <p:cNvPr id="206" name="Shape 203"/>
          <p:cNvSpPr/>
          <p:nvPr/>
        </p:nvSpPr>
        <p:spPr>
          <a:xfrm>
            <a:off x="13331952" y="10158984"/>
            <a:ext cx="80467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13405104" y="1015898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DMD</a:t>
            </a:r>
            <a:endParaRPr lang="en-US" sz="1500" dirty="0"/>
          </a:p>
        </p:txBody>
      </p:sp>
      <p:sp>
        <p:nvSpPr>
          <p:cNvPr id="208" name="Shape 205"/>
          <p:cNvSpPr/>
          <p:nvPr/>
        </p:nvSpPr>
        <p:spPr>
          <a:xfrm>
            <a:off x="14136624" y="10158984"/>
            <a:ext cx="28346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4209776" y="1015898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SRP-9001 (AAV9)</a:t>
            </a:r>
            <a:endParaRPr lang="en-US" sz="1500" dirty="0"/>
          </a:p>
        </p:txBody>
      </p:sp>
      <p:sp>
        <p:nvSpPr>
          <p:cNvPr id="210" name="Shape 207"/>
          <p:cNvSpPr/>
          <p:nvPr/>
        </p:nvSpPr>
        <p:spPr>
          <a:xfrm>
            <a:off x="16971264" y="10158984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17044416" y="1015898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65C0"/>
                </a:solidFill>
              </a:rPr>
              <a:t>7.6/10</a:t>
            </a:r>
            <a:endParaRPr lang="en-US" sz="1500" dirty="0"/>
          </a:p>
        </p:txBody>
      </p:sp>
      <p:sp>
        <p:nvSpPr>
          <p:cNvPr id="212" name="Shape 209"/>
          <p:cNvSpPr/>
          <p:nvPr/>
        </p:nvSpPr>
        <p:spPr>
          <a:xfrm>
            <a:off x="17794224" y="10158984"/>
            <a:ext cx="176479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17867376" y="1015898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High</a:t>
            </a:r>
            <a:endParaRPr lang="en-US" sz="1500" dirty="0"/>
          </a:p>
        </p:txBody>
      </p:sp>
      <p:sp>
        <p:nvSpPr>
          <p:cNvPr id="214" name="Shape 211"/>
          <p:cNvSpPr/>
          <p:nvPr/>
        </p:nvSpPr>
        <p:spPr>
          <a:xfrm>
            <a:off x="10268712" y="10479024"/>
            <a:ext cx="306324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10341864" y="1047902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Rett syndrome (non-LoF)</a:t>
            </a:r>
            <a:endParaRPr lang="en-US" sz="1500" dirty="0"/>
          </a:p>
        </p:txBody>
      </p:sp>
      <p:sp>
        <p:nvSpPr>
          <p:cNvPr id="216" name="Shape 213"/>
          <p:cNvSpPr/>
          <p:nvPr/>
        </p:nvSpPr>
        <p:spPr>
          <a:xfrm>
            <a:off x="13331952" y="10479024"/>
            <a:ext cx="804672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13405104" y="1047902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MECP2</a:t>
            </a:r>
            <a:endParaRPr lang="en-US" sz="1500" dirty="0"/>
          </a:p>
        </p:txBody>
      </p:sp>
      <p:sp>
        <p:nvSpPr>
          <p:cNvPr id="218" name="Shape 215"/>
          <p:cNvSpPr/>
          <p:nvPr/>
        </p:nvSpPr>
        <p:spPr>
          <a:xfrm>
            <a:off x="14136624" y="10479024"/>
            <a:ext cx="283464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14209776" y="1047902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Skysona (LV)</a:t>
            </a:r>
            <a:endParaRPr lang="en-US" sz="1500" dirty="0"/>
          </a:p>
        </p:txBody>
      </p:sp>
      <p:sp>
        <p:nvSpPr>
          <p:cNvPr id="220" name="Shape 217"/>
          <p:cNvSpPr/>
          <p:nvPr/>
        </p:nvSpPr>
        <p:spPr>
          <a:xfrm>
            <a:off x="16971264" y="10479024"/>
            <a:ext cx="822960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17044416" y="1047902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65C0"/>
                </a:solidFill>
              </a:rPr>
              <a:t>7.4/10</a:t>
            </a:r>
            <a:endParaRPr lang="en-US" sz="1500" dirty="0"/>
          </a:p>
        </p:txBody>
      </p:sp>
      <p:sp>
        <p:nvSpPr>
          <p:cNvPr id="222" name="Shape 219"/>
          <p:cNvSpPr/>
          <p:nvPr/>
        </p:nvSpPr>
        <p:spPr>
          <a:xfrm>
            <a:off x="17794224" y="10479024"/>
            <a:ext cx="1764792" cy="320040"/>
          </a:xfrm>
          <a:prstGeom prst="rect">
            <a:avLst/>
          </a:prstGeom>
          <a:solidFill>
            <a:srgbClr val="F0F5FD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17867376" y="1047902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Medium</a:t>
            </a:r>
            <a:endParaRPr lang="en-US" sz="1500" dirty="0"/>
          </a:p>
        </p:txBody>
      </p:sp>
      <p:sp>
        <p:nvSpPr>
          <p:cNvPr id="224" name="Shape 221"/>
          <p:cNvSpPr/>
          <p:nvPr/>
        </p:nvSpPr>
        <p:spPr>
          <a:xfrm>
            <a:off x="10268712" y="10799064"/>
            <a:ext cx="30632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10341864" y="10799064"/>
            <a:ext cx="2916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Neurofibromatosis type 1</a:t>
            </a:r>
            <a:endParaRPr lang="en-US" sz="1500" dirty="0"/>
          </a:p>
        </p:txBody>
      </p:sp>
      <p:sp>
        <p:nvSpPr>
          <p:cNvPr id="226" name="Shape 223"/>
          <p:cNvSpPr/>
          <p:nvPr/>
        </p:nvSpPr>
        <p:spPr>
          <a:xfrm>
            <a:off x="13331952" y="10799064"/>
            <a:ext cx="80467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13405104" y="1079906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NF1</a:t>
            </a:r>
            <a:endParaRPr lang="en-US" sz="1500" dirty="0"/>
          </a:p>
        </p:txBody>
      </p:sp>
      <p:sp>
        <p:nvSpPr>
          <p:cNvPr id="228" name="Shape 225"/>
          <p:cNvSpPr/>
          <p:nvPr/>
        </p:nvSpPr>
        <p:spPr>
          <a:xfrm>
            <a:off x="14136624" y="10799064"/>
            <a:ext cx="283464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14209776" y="10799064"/>
            <a:ext cx="26883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—</a:t>
            </a:r>
            <a:endParaRPr lang="en-US" sz="1500" dirty="0"/>
          </a:p>
        </p:txBody>
      </p:sp>
      <p:sp>
        <p:nvSpPr>
          <p:cNvPr id="230" name="Shape 227"/>
          <p:cNvSpPr/>
          <p:nvPr/>
        </p:nvSpPr>
        <p:spPr>
          <a:xfrm>
            <a:off x="16971264" y="10799064"/>
            <a:ext cx="822960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17044416" y="10799064"/>
            <a:ext cx="6766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1A1A"/>
                </a:solidFill>
              </a:rPr>
              <a:t>Pkg. fail</a:t>
            </a:r>
            <a:endParaRPr lang="en-US" sz="1500" dirty="0"/>
          </a:p>
        </p:txBody>
      </p:sp>
      <p:sp>
        <p:nvSpPr>
          <p:cNvPr id="232" name="Shape 229"/>
          <p:cNvSpPr/>
          <p:nvPr/>
        </p:nvSpPr>
        <p:spPr>
          <a:xfrm>
            <a:off x="17794224" y="10799064"/>
            <a:ext cx="1764792" cy="32004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F0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17867376" y="10799064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2E"/>
                </a:solidFill>
              </a:rPr>
              <a:t>—</a:t>
            </a:r>
            <a:endParaRPr lang="en-US" sz="1500" dirty="0"/>
          </a:p>
        </p:txBody>
      </p:sp>
      <p:sp>
        <p:nvSpPr>
          <p:cNvPr id="234" name="Text 231"/>
          <p:cNvSpPr/>
          <p:nvPr/>
        </p:nvSpPr>
        <p:spPr>
          <a:xfrm>
            <a:off x="10268712" y="11283696"/>
            <a:ext cx="9738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Precedent Clustering by Programme</a:t>
            </a:r>
            <a:endParaRPr lang="en-US" sz="2000" dirty="0"/>
          </a:p>
        </p:txBody>
      </p:sp>
      <p:graphicFrame>
        <p:nvGraphicFramePr>
          <p:cNvPr id="235" name="Chart 0" descr=""/>
          <p:cNvGraphicFramePr/>
          <p:nvPr/>
        </p:nvGraphicFramePr>
        <p:xfrm>
          <a:off x="10268712" y="11649456"/>
          <a:ext cx="9738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36" name="Shape 232"/>
          <p:cNvSpPr/>
          <p:nvPr/>
        </p:nvSpPr>
        <p:spPr>
          <a:xfrm>
            <a:off x="10268712" y="15307056"/>
            <a:ext cx="9738360" cy="1417320"/>
          </a:xfrm>
          <a:prstGeom prst="roundRect">
            <a:avLst>
              <a:gd name="adj" fmla="val 6452"/>
            </a:avLst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10469880" y="15416784"/>
            <a:ext cx="9336024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080"/>
                </a:solidFill>
              </a:rPr>
              <a:t>Key finding: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Diseases where loss-of-function is clear, an appropriate vector exists, and the target tissue is accessible — but no gene therapy programme has been initiated — represent gaps driven by </a:t>
            </a:r>
            <a:pPr indent="0" marL="0">
              <a:buNone/>
            </a:pPr>
            <a:r>
              <a:rPr lang="en-US" sz="1800" b="1" i="1" dirty="0">
                <a:solidFill>
                  <a:srgbClr val="FFD080"/>
                </a:solidFill>
              </a:rPr>
              <a:t>economics and prevalence, not biology.</a:t>
            </a:r>
            <a:endParaRPr lang="en-US" sz="1800" dirty="0"/>
          </a:p>
        </p:txBody>
      </p:sp>
      <p:sp>
        <p:nvSpPr>
          <p:cNvPr id="238" name="Shape 234"/>
          <p:cNvSpPr/>
          <p:nvPr/>
        </p:nvSpPr>
        <p:spPr>
          <a:xfrm>
            <a:off x="20244816" y="3401568"/>
            <a:ext cx="9738360" cy="45720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39" name="Text 235"/>
          <p:cNvSpPr/>
          <p:nvPr/>
        </p:nvSpPr>
        <p:spPr>
          <a:xfrm>
            <a:off x="20244816" y="3401568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CONCLUSIONS</a:t>
            </a:r>
            <a:endParaRPr lang="en-US" sz="1900" dirty="0"/>
          </a:p>
        </p:txBody>
      </p:sp>
      <p:sp>
        <p:nvSpPr>
          <p:cNvPr id="240" name="Text 236"/>
          <p:cNvSpPr/>
          <p:nvPr/>
        </p:nvSpPr>
        <p:spPr>
          <a:xfrm>
            <a:off x="20244816" y="4023360"/>
            <a:ext cx="9738360" cy="3630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C1C2E"/>
                </a:solidFill>
              </a:rPr>
              <a:t>NanoGT correctly recovers the clinically expected gene therapy precedent for all positive control diseases, confirming that the 14-dimension scoring logic is biologically coherent.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C1C2E"/>
                </a:solidFill>
              </a:rPr>
              <a:t>The 46-disease proof-of-concept cohort reveals systematic clustering: most rare diseases map to a small number of approved vector-tissue combinations, meaning the foundational development work already exists.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C1C2E"/>
                </a:solidFill>
              </a:rPr>
              <a:t>Where loss-of-function biology is tractable, AAV delivery is feasible, but no programme exists, the gap is attributable to economics and patient prevalence — not an unresolved biological barrier.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C1C2E"/>
                </a:solidFill>
              </a:rPr>
              <a:t>NanoGT makes this gap visible and is openly accessible to patient advocacy groups and small academic teams who lack the specialist resource to perform manual feasibility analyses.</a:t>
            </a:r>
            <a:endParaRPr lang="en-US" sz="1700" dirty="0"/>
          </a:p>
        </p:txBody>
      </p:sp>
      <p:sp>
        <p:nvSpPr>
          <p:cNvPr id="241" name="Text 237"/>
          <p:cNvSpPr/>
          <p:nvPr/>
        </p:nvSpPr>
        <p:spPr>
          <a:xfrm>
            <a:off x="20244816" y="7781544"/>
            <a:ext cx="9738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Notable Edge Cases</a:t>
            </a:r>
            <a:endParaRPr lang="en-US" sz="2000" dirty="0"/>
          </a:p>
        </p:txBody>
      </p:sp>
      <p:sp>
        <p:nvSpPr>
          <p:cNvPr id="242" name="Shape 238"/>
          <p:cNvSpPr/>
          <p:nvPr/>
        </p:nvSpPr>
        <p:spPr>
          <a:xfrm>
            <a:off x="20244816" y="8147304"/>
            <a:ext cx="9738360" cy="1169700"/>
          </a:xfrm>
          <a:prstGeom prst="roundRect">
            <a:avLst>
              <a:gd name="adj" fmla="val 6254"/>
            </a:avLst>
          </a:prstGeom>
          <a:solidFill>
            <a:srgbClr val="FFF3CD"/>
          </a:solidFill>
          <a:ln w="19050">
            <a:solidFill>
              <a:srgbClr val="997700"/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20409408" y="8238744"/>
            <a:ext cx="9409176" cy="986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664400"/>
                </a:solidFill>
              </a:rPr>
              <a:t>DMD — Oversized cargo
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CDS = 11,055 bp; standard AAV penalised. Micro-dystrophin precedent (SRP-9001) correctly returned at 7.6/10.</a:t>
            </a:r>
            <a:endParaRPr lang="en-US" sz="2000" dirty="0"/>
          </a:p>
        </p:txBody>
      </p:sp>
      <p:sp>
        <p:nvSpPr>
          <p:cNvPr id="244" name="Shape 240"/>
          <p:cNvSpPr/>
          <p:nvPr/>
        </p:nvSpPr>
        <p:spPr>
          <a:xfrm>
            <a:off x="20244816" y="9481596"/>
            <a:ext cx="9738360" cy="1449507"/>
          </a:xfrm>
          <a:prstGeom prst="roundRect">
            <a:avLst>
              <a:gd name="adj" fmla="val 5047"/>
            </a:avLst>
          </a:prstGeom>
          <a:solidFill>
            <a:srgbClr val="F9E0E0"/>
          </a:solidFill>
          <a:ln w="19050">
            <a:solidFill>
              <a:srgbClr val="D4012D"/>
            </a:solidFill>
            <a:prstDash val="solid"/>
          </a:ln>
        </p:spPr>
      </p:sp>
      <p:sp>
        <p:nvSpPr>
          <p:cNvPr id="245" name="Text 241"/>
          <p:cNvSpPr/>
          <p:nvPr/>
        </p:nvSpPr>
        <p:spPr>
          <a:xfrm>
            <a:off x="20409408" y="9573036"/>
            <a:ext cx="9409176" cy="12666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1A1A"/>
                </a:solidFill>
              </a:rPr>
              <a:t>NF1 — Hard packaging fail
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CDS = 8,451 bp with haploinsufficiency mechanism. No single-vector precedent survives. Framework correctly signals dual-vector or non-viral approach.</a:t>
            </a:r>
            <a:endParaRPr lang="en-US" sz="2000" dirty="0"/>
          </a:p>
        </p:txBody>
      </p:sp>
      <p:sp>
        <p:nvSpPr>
          <p:cNvPr id="246" name="Shape 242"/>
          <p:cNvSpPr/>
          <p:nvPr/>
        </p:nvSpPr>
        <p:spPr>
          <a:xfrm>
            <a:off x="20244816" y="11095695"/>
            <a:ext cx="9738360" cy="1169700"/>
          </a:xfrm>
          <a:prstGeom prst="roundRect">
            <a:avLst>
              <a:gd name="adj" fmla="val 6254"/>
            </a:avLst>
          </a:prstGeom>
          <a:solidFill>
            <a:srgbClr val="EDF3FB"/>
          </a:solidFill>
          <a:ln w="19050">
            <a:solidFill>
              <a:srgbClr val="003E74"/>
            </a:solidFill>
            <a:prstDash val="solid"/>
          </a:ln>
        </p:spPr>
      </p:sp>
      <p:sp>
        <p:nvSpPr>
          <p:cNvPr id="247" name="Text 243"/>
          <p:cNvSpPr/>
          <p:nvPr/>
        </p:nvSpPr>
        <p:spPr>
          <a:xfrm>
            <a:off x="20409408" y="11187135"/>
            <a:ext cx="9409176" cy="986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LHON — Mitochondrial LoF
</a:t>
            </a:r>
            <a:endParaRPr lang="en-US" sz="2000" dirty="0"/>
          </a:p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MT-ND4 is mitochondrially encoded. Allotopic delivery required. Score appropriately reduced to 6.4/10 (medium confidence).</a:t>
            </a:r>
            <a:endParaRPr lang="en-US" sz="2000" dirty="0"/>
          </a:p>
        </p:txBody>
      </p:sp>
      <p:sp>
        <p:nvSpPr>
          <p:cNvPr id="248" name="Text 244"/>
          <p:cNvSpPr/>
          <p:nvPr/>
        </p:nvSpPr>
        <p:spPr>
          <a:xfrm>
            <a:off x="20244816" y="12429988"/>
            <a:ext cx="9738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249" name="Text 245"/>
          <p:cNvSpPr/>
          <p:nvPr/>
        </p:nvSpPr>
        <p:spPr>
          <a:xfrm>
            <a:off x="20244816" y="12795748"/>
            <a:ext cx="9738360" cy="19065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C1C2E"/>
                </a:solidFill>
              </a:rPr>
              <a:t>Surrogate database is curated (21 programmes) — not exhaustive; some clinical-stage programmes may be absent.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C1C2E"/>
                </a:solidFill>
              </a:rPr>
              <a:t>Heuristic scoring, not probabilistic — weights reflect biological rationale but are not trained on clinical outcome data.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700" dirty="0">
                <a:solidFill>
                  <a:srgbClr val="1C1C2E"/>
                </a:solidFill>
              </a:rPr>
              <a:t>Not a clinical decision tool: all outputs require expert review and disease-specific validation.</a:t>
            </a:r>
            <a:endParaRPr lang="en-US" sz="1700" dirty="0"/>
          </a:p>
        </p:txBody>
      </p:sp>
      <p:sp>
        <p:nvSpPr>
          <p:cNvPr id="250" name="Text 246"/>
          <p:cNvSpPr/>
          <p:nvPr/>
        </p:nvSpPr>
        <p:spPr>
          <a:xfrm>
            <a:off x="20244816" y="14830288"/>
            <a:ext cx="9738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3E74"/>
                </a:solidFill>
              </a:rPr>
              <a:t>Future Directions</a:t>
            </a:r>
            <a:endParaRPr lang="en-US" sz="2000" dirty="0"/>
          </a:p>
        </p:txBody>
      </p:sp>
      <p:sp>
        <p:nvSpPr>
          <p:cNvPr id="251" name="Text 247"/>
          <p:cNvSpPr/>
          <p:nvPr/>
        </p:nvSpPr>
        <p:spPr>
          <a:xfrm>
            <a:off x="20244816" y="15196048"/>
            <a:ext cx="9738360" cy="9258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C1C2E"/>
                </a:solidFill>
              </a:rPr>
              <a:t>Expansion to all monogenic Orphanet diseases (~3,000 candidates), integration of live ClinicalTrials.gov data, and machine-learning weight optimisation trained on programme success/failure outcomes.</a:t>
            </a:r>
            <a:endParaRPr lang="en-US" sz="1700" dirty="0"/>
          </a:p>
        </p:txBody>
      </p:sp>
      <p:sp>
        <p:nvSpPr>
          <p:cNvPr id="252" name="Shape 248"/>
          <p:cNvSpPr/>
          <p:nvPr/>
        </p:nvSpPr>
        <p:spPr>
          <a:xfrm>
            <a:off x="20244816" y="16249894"/>
            <a:ext cx="9738360" cy="45720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53" name="Text 249"/>
          <p:cNvSpPr/>
          <p:nvPr/>
        </p:nvSpPr>
        <p:spPr>
          <a:xfrm>
            <a:off x="20244816" y="16249894"/>
            <a:ext cx="9738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150" kern="0" dirty="0">
                <a:solidFill>
                  <a:srgbClr val="FFFFFF"/>
                </a:solidFill>
              </a:rPr>
              <a:t>REFERENCES</a:t>
            </a:r>
            <a:endParaRPr lang="en-US" sz="1900" dirty="0"/>
          </a:p>
        </p:txBody>
      </p:sp>
      <p:sp>
        <p:nvSpPr>
          <p:cNvPr id="254" name="Text 250"/>
          <p:cNvSpPr/>
          <p:nvPr/>
        </p:nvSpPr>
        <p:spPr>
          <a:xfrm>
            <a:off x="20244816" y="16871686"/>
            <a:ext cx="9738360" cy="34645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4A5A"/>
                </a:solidFill>
              </a:rPr>
              <a:t>Kirschner &amp; Cathomen (2020). Gene therapy for monogenic inherited disorders. NEJM.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4A5A"/>
                </a:solidFill>
              </a:rPr>
              <a:t>Bara-Ledesma et al. (2025). Advances in gene therapy for rare diseases. Mol Ther.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4A5A"/>
                </a:solidFill>
              </a:rPr>
              <a:t>Lomash et al. (2025). AAV gene therapy development: early planning and regulatory considerations. Mol Ther.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4A5A"/>
                </a:solidFill>
              </a:rPr>
              <a:t>Wang et al. (2024). AAV as a delivery vector for gene therapy of human diseases. Signal Transduct Target Ther.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4A5A"/>
                </a:solidFill>
              </a:rPr>
              <a:t>Walkey et al. (2025). A comprehensive atlas of AAV tropism in the mouse. Nat Commun.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4A5A"/>
                </a:solidFill>
              </a:rPr>
              <a:t>Rath et al. (2012). Representation of rare diseases in health information systems. Rare Dis.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4A4A5A"/>
                </a:solidFill>
              </a:rPr>
              <a:t>Chamberlain et al. (2023). Microdystrophin expression as a surrogate endpoint for DMD trials. Hum Gene Ther.</a:t>
            </a:r>
            <a:endParaRPr lang="en-US" sz="1300" dirty="0"/>
          </a:p>
        </p:txBody>
      </p:sp>
      <p:sp>
        <p:nvSpPr>
          <p:cNvPr id="255" name="Text 251"/>
          <p:cNvSpPr/>
          <p:nvPr/>
        </p:nvSpPr>
        <p:spPr>
          <a:xfrm>
            <a:off x="20244816" y="20235672"/>
            <a:ext cx="9738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</a:rPr>
              <a:t>lili.yassin25@imperial.ac.uk  ·  Data: Orphanet · UniProt · OMIM</a:t>
            </a:r>
            <a:endParaRPr lang="en-US" sz="1300" dirty="0"/>
          </a:p>
        </p:txBody>
      </p:sp>
      <p:sp>
        <p:nvSpPr>
          <p:cNvPr id="256" name="Shape 252"/>
          <p:cNvSpPr/>
          <p:nvPr/>
        </p:nvSpPr>
        <p:spPr>
          <a:xfrm>
            <a:off x="0" y="20656296"/>
            <a:ext cx="30275784" cy="731520"/>
          </a:xfrm>
          <a:prstGeom prst="rect">
            <a:avLst/>
          </a:prstGeom>
          <a:solidFill>
            <a:srgbClr val="003E74"/>
          </a:solidFill>
          <a:ln w="12700">
            <a:solidFill>
              <a:srgbClr val="003E74"/>
            </a:solidFill>
            <a:prstDash val="solid"/>
          </a:ln>
        </p:spPr>
      </p:sp>
      <p:sp>
        <p:nvSpPr>
          <p:cNvPr id="257" name="Text 253"/>
          <p:cNvSpPr/>
          <p:nvPr/>
        </p:nvSpPr>
        <p:spPr>
          <a:xfrm>
            <a:off x="365760" y="20656296"/>
            <a:ext cx="105965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9BBCC"/>
                </a:solidFill>
              </a:rPr>
              <a:t>NanoGT  ·  Imperial College London  ·  MSc Dissertation 2026</a:t>
            </a:r>
            <a:endParaRPr lang="en-US" sz="1500" dirty="0"/>
          </a:p>
        </p:txBody>
      </p:sp>
      <p:sp>
        <p:nvSpPr>
          <p:cNvPr id="258" name="Text 254"/>
          <p:cNvSpPr/>
          <p:nvPr/>
        </p:nvSpPr>
        <p:spPr>
          <a:xfrm>
            <a:off x="10596524" y="20656296"/>
            <a:ext cx="90827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9BBCC"/>
                </a:solidFill>
              </a:rPr>
              <a:t>Dissertation Days 2026</a:t>
            </a:r>
            <a:endParaRPr lang="en-US" sz="1500" dirty="0"/>
          </a:p>
        </p:txBody>
      </p:sp>
      <p:sp>
        <p:nvSpPr>
          <p:cNvPr id="259" name="Text 255"/>
          <p:cNvSpPr/>
          <p:nvPr/>
        </p:nvSpPr>
        <p:spPr>
          <a:xfrm>
            <a:off x="19679260" y="20656296"/>
            <a:ext cx="999100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9BBCC"/>
                </a:solidFill>
              </a:rPr>
              <a:t>Lili Yassin  ·  lili.yassin25@imperial.ac.uk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NanoGT – Imperial College London</dc:title>
  <dc:subject>PptxGenJS Presentation</dc:subject>
  <dc:creator>Lili Yassin</dc:creator>
  <cp:lastModifiedBy>Lili Yassin</cp:lastModifiedBy>
  <cp:revision>1</cp:revision>
  <dcterms:created xsi:type="dcterms:W3CDTF">2026-06-23T11:48:23Z</dcterms:created>
  <dcterms:modified xsi:type="dcterms:W3CDTF">2026-06-23T11:48:23Z</dcterms:modified>
</cp:coreProperties>
</file>