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0275784" cy="21387816"/>
  <p:notesSz cx="21387816" cy="3027578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275784" cy="3566160"/>
          </a:xfrm>
          <a:prstGeom prst="rect">
            <a:avLst/>
          </a:prstGeom>
          <a:solidFill>
            <a:srgbClr val="003E74"/>
          </a:solidFill>
          <a:ln w="12700">
            <a:solidFill>
              <a:srgbClr val="003E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179856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NanoGT: A Computational Framework for Gene Therapy</a:t>
            </a:r>
            <a:endParaRPr lang="en-US" sz="6000" dirty="0"/>
          </a:p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Precedent Matching in Rare Diseases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365760" y="2286000"/>
            <a:ext cx="151378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Lili Yassin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2807208"/>
            <a:ext cx="196792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BCFE0"/>
                </a:solidFill>
              </a:rPr>
              <a:t>Department of Bioengineering / Faculty of Medicine, Imperial College London  ·  MSc Dissertation 2025–2026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503384" y="1280160"/>
            <a:ext cx="7406640" cy="457200"/>
          </a:xfrm>
          <a:prstGeom prst="roundRect">
            <a:avLst>
              <a:gd name="adj" fmla="val 30000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503384" y="12801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Dissertation Days 2026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2503384" y="1874520"/>
            <a:ext cx="7406640" cy="457200"/>
          </a:xfrm>
          <a:prstGeom prst="roundRect">
            <a:avLst>
              <a:gd name="adj" fmla="val 30000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503384" y="18745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Imperial College London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0" y="3566160"/>
            <a:ext cx="30275784" cy="1920240"/>
          </a:xfrm>
          <a:prstGeom prst="rect">
            <a:avLst/>
          </a:prstGeom>
          <a:solidFill>
            <a:srgbClr val="EDF3FB"/>
          </a:solidFill>
          <a:ln w="12700">
            <a:solidFill>
              <a:srgbClr val="EDF3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566160"/>
            <a:ext cx="164592" cy="1920240"/>
          </a:xfrm>
          <a:prstGeom prst="rect">
            <a:avLst/>
          </a:prstGeom>
          <a:solidFill>
            <a:srgbClr val="003E74"/>
          </a:solidFill>
          <a:ln w="12700">
            <a:solidFill>
              <a:srgbClr val="003E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3694176"/>
            <a:ext cx="29864304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E74"/>
                </a:solidFill>
              </a:rPr>
              <a:t>Abstract: </a:t>
            </a:r>
            <a:pPr indent="0" marL="0">
              <a:buNone/>
            </a:pPr>
            <a:r>
              <a:rPr lang="en-US" sz="1700" dirty="0">
                <a:solidFill>
                  <a:srgbClr val="222233"/>
                </a:solidFill>
              </a:rPr>
              <a:t>Approximately 7,000 rare diseases exist yet the vast majority lack approved gene therapies, despite the platform potential of AAV and lentiviral vectors. The bottleneck is not biology — it is the lack of a systematic method to identify which existing approved gene-therapy program provides the best biological and regulatory </a:t>
            </a:r>
            <a:pPr indent="0" marL="0">
              <a:buNone/>
            </a:pPr>
            <a:r>
              <a:rPr lang="en-US" sz="1700" i="1" dirty="0">
                <a:solidFill>
                  <a:srgbClr val="222233"/>
                </a:solidFill>
              </a:rPr>
              <a:t>precedent</a:t>
            </a:r>
            <a:pPr indent="0" marL="0">
              <a:buNone/>
            </a:pPr>
            <a:r>
              <a:rPr lang="en-US" sz="1700" dirty="0">
                <a:solidFill>
                  <a:srgbClr val="222233"/>
                </a:solidFill>
              </a:rPr>
              <a:t> for an untreated disease. NanoGT is a Python CLI framework that, given an Orphanet disease identifier, queries public databases, scores 21 approved or clinical-stage gene therapy programs across </a:t>
            </a:r>
            <a:pPr indent="0" marL="0">
              <a:buNone/>
            </a:pPr>
            <a:r>
              <a:rPr lang="en-US" sz="1700" b="1" dirty="0">
                <a:solidFill>
                  <a:srgbClr val="003E74"/>
                </a:solidFill>
              </a:rPr>
              <a:t>14 biologically and clinically relevant dimensions</a:t>
            </a:r>
            <a:pPr indent="0" marL="0">
              <a:buNone/>
            </a:pPr>
            <a:r>
              <a:rPr lang="en-US" sz="1700" dirty="0">
                <a:solidFill>
                  <a:srgbClr val="222233"/>
                </a:solidFill>
              </a:rPr>
              <a:t>, and returns a ranked precedent list with confidence classification. Validated across a 46-disease proof-of-concept cohort — including positive controls, stress tests, and non-loss-of-function mechanisms — NanoGT correctly recovers known clinical precedents and identifies a systematic gap: many loss-of-function diseases with feasible AAV delivery have </a:t>
            </a:r>
            <a:pPr indent="0" marL="0">
              <a:buNone/>
            </a:pPr>
            <a:r>
              <a:rPr lang="en-US" sz="1700" b="1" i="1" dirty="0">
                <a:solidFill>
                  <a:srgbClr val="D4012D"/>
                </a:solidFill>
              </a:rPr>
              <a:t>no active therapy programme</a:t>
            </a:r>
            <a:pPr indent="0" marL="0">
              <a:buNone/>
            </a:pPr>
            <a:r>
              <a:rPr lang="en-US" sz="1700" dirty="0">
                <a:solidFill>
                  <a:srgbClr val="222233"/>
                </a:solidFill>
              </a:rPr>
              <a:t>, suggesting economics, not biology, is the primary barrier.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149840" y="5596128"/>
            <a:ext cx="0" cy="14941296"/>
          </a:xfrm>
          <a:prstGeom prst="line">
            <a:avLst/>
          </a:prstGeom>
          <a:noFill/>
          <a:ln w="12700">
            <a:solidFill>
              <a:srgbClr val="D8E2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25944" y="5596128"/>
            <a:ext cx="0" cy="14941296"/>
          </a:xfrm>
          <a:prstGeom prst="line">
            <a:avLst/>
          </a:prstGeom>
          <a:noFill/>
          <a:ln w="12700">
            <a:solidFill>
              <a:srgbClr val="D8E2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5733288"/>
            <a:ext cx="9774936" cy="475488"/>
          </a:xfrm>
          <a:prstGeom prst="rect">
            <a:avLst/>
          </a:prstGeom>
          <a:solidFill>
            <a:srgbClr val="003E74"/>
          </a:solidFill>
          <a:ln w="12700">
            <a:solidFill>
              <a:srgbClr val="003E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5733288"/>
            <a:ext cx="9774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BACKGROUND &amp; PROBLEM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74320" y="6391656"/>
            <a:ext cx="9774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E74"/>
                </a:solidFill>
              </a:rPr>
              <a:t>The Rare Disease Treatment Gap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74320" y="6739128"/>
            <a:ext cx="9774936" cy="17885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33"/>
                </a:solidFill>
              </a:rPr>
              <a:t>~7,000 distinct rare diseases are identified globally, collectively affecting hundreds of millions of people, yet only a small fraction have disease-modifying treatments. For nano-rare diseases (prevalence &lt; 1 in 1,000,000), commercial return is vanishingly small — diseases are systematically deprioritised by industry, leaving patients with no approved therapy, no active trial, and no funded research programme.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74320" y="8664854"/>
            <a:ext cx="9774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E74"/>
                </a:solidFill>
              </a:rPr>
              <a:t>Gene Therapy as a Platform Solution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274320" y="9012326"/>
            <a:ext cx="9774936" cy="17885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33"/>
                </a:solidFill>
              </a:rPr>
              <a:t>Landmark approvals — Luxturna (2017), Zolgensma (2019), Hemgenix (2022) — established that single-administration gene therapy can produce durable correction across diverse tissue targets. The foundational regulatory and safety work for one vector-tissue combination becomes a shared resource: a subsequent programme using the same vector in the same tissue can leverage this established precedent, dramatically reducing development costs.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74320" y="10938053"/>
            <a:ext cx="9774936" cy="2033626"/>
          </a:xfrm>
          <a:prstGeom prst="roundRect">
            <a:avLst>
              <a:gd name="adj" fmla="val 3147"/>
            </a:avLst>
          </a:prstGeom>
          <a:solidFill>
            <a:srgbClr val="F8D7DA"/>
          </a:solidFill>
          <a:ln w="19050">
            <a:solidFill>
              <a:srgbClr val="D401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11011205"/>
            <a:ext cx="9445752" cy="18873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D4012D"/>
                </a:solidFill>
              </a:rPr>
              <a:t>The Precedent Problem
</a:t>
            </a:r>
            <a:endParaRPr lang="en-US" sz="2100" dirty="0"/>
          </a:p>
          <a:p>
            <a:pPr indent="0" marL="0">
              <a:buNone/>
            </a:pPr>
            <a:r>
              <a:rPr lang="en-US" sz="1800" dirty="0">
                <a:solidFill>
                  <a:srgbClr val="222233"/>
                </a:solidFill>
              </a:rPr>
              <a:t>For a given untreated disease, which existing approved programme is the best biological and regulatory precedent? This assessment is currently performed manually, is time-consuming, and is inaccessible to small patient groups. No public computational tool integrates the full range of relevant parameters.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274320" y="13136270"/>
            <a:ext cx="9774936" cy="475488"/>
          </a:xfrm>
          <a:prstGeom prst="rect">
            <a:avLst/>
          </a:prstGeom>
          <a:solidFill>
            <a:srgbClr val="003E74"/>
          </a:solidFill>
          <a:ln w="12700">
            <a:solidFill>
              <a:srgbClr val="003E7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13136270"/>
            <a:ext cx="9774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METHODS — NANOGT FRAMEWORK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74320" y="13794638"/>
            <a:ext cx="9774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E74"/>
                </a:solidFill>
              </a:rPr>
              <a:t>System Architecture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274320" y="14142110"/>
            <a:ext cx="977493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33"/>
                </a:solidFill>
              </a:rPr>
              <a:t>NanoGT is a Python CLI tool (nanogt match [ORPHA-ID]) that: (1) queries Orphanet for disease phenotype and causal gene, (2) retrieves gene properties from UniProt, (3) scores 21 programs in a curated surrogate database across 14 dimensions, and (4) outputs a ranked match list with composite scores and a Markdown/PDF report.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74320" y="15788030"/>
            <a:ext cx="9774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E74"/>
                </a:solidFill>
              </a:rPr>
              <a:t>14 Scoring Dimensions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274320" y="16135502"/>
            <a:ext cx="48417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1. Gene packaging fit in AAV/LV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07508" y="16135502"/>
            <a:ext cx="48417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8. Vector immunogenicity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74320" y="16464686"/>
            <a:ext cx="48417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2. Vector tissue tropism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07508" y="16464686"/>
            <a:ext cx="48417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9. Therapeutic window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74320" y="16793870"/>
            <a:ext cx="48417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3. Protein class &amp; cross-correction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07508" y="16793870"/>
            <a:ext cx="48417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10. Immune privilege of tissue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274320" y="17123054"/>
            <a:ext cx="48417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4. Biological pathway similarity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207508" y="17123054"/>
            <a:ext cx="48417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11. Promoter availability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274320" y="17452238"/>
            <a:ext cx="48417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5. Mechanism/modality compatibility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207508" y="17452238"/>
            <a:ext cx="48417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12. Route of administration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274320" y="17781422"/>
            <a:ext cx="48417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6. Inheritance pattern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207508" y="17781422"/>
            <a:ext cx="48417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13. Organelle targeting feasibility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274320" y="18110606"/>
            <a:ext cx="48417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7. Regulatory approval stage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207508" y="18110606"/>
            <a:ext cx="48417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14. Cross-correction potential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274320" y="18576950"/>
            <a:ext cx="9774936" cy="6071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5566"/>
                </a:solidFill>
              </a:rPr>
              <a:t>Raw score normalised to /10. Classified as HIGH ≥ 7.5  ·  MEDIUM ≥ 5.0  ·  packaging hard-fail if CDS exceeds vector capacity.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274320" y="19321272"/>
            <a:ext cx="9774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E74"/>
                </a:solidFill>
              </a:rPr>
              <a:t>Decision Framework</a:t>
            </a:r>
            <a:endParaRPr lang="en-US" sz="2100" dirty="0"/>
          </a:p>
        </p:txBody>
      </p:sp>
      <p:sp>
        <p:nvSpPr>
          <p:cNvPr id="44" name="Shape 42"/>
          <p:cNvSpPr/>
          <p:nvPr/>
        </p:nvSpPr>
        <p:spPr>
          <a:xfrm>
            <a:off x="731520" y="19668744"/>
            <a:ext cx="8860536" cy="475488"/>
          </a:xfrm>
          <a:prstGeom prst="roundRect">
            <a:avLst>
              <a:gd name="adj" fmla="val 13462"/>
            </a:avLst>
          </a:prstGeom>
          <a:solidFill>
            <a:srgbClr val="003E74"/>
          </a:solidFill>
          <a:ln w="19050">
            <a:solidFill>
              <a:srgbClr val="003E7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19668744"/>
            <a:ext cx="8860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Query disease by Orphanet ID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5161788" y="20144232"/>
            <a:ext cx="0" cy="164592"/>
          </a:xfrm>
          <a:prstGeom prst="line">
            <a:avLst/>
          </a:prstGeom>
          <a:noFill/>
          <a:ln w="19050">
            <a:solidFill>
              <a:srgbClr val="003E7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0" y="20308824"/>
            <a:ext cx="8860536" cy="475488"/>
          </a:xfrm>
          <a:prstGeom prst="roundRect">
            <a:avLst>
              <a:gd name="adj" fmla="val 13462"/>
            </a:avLst>
          </a:prstGeom>
          <a:solidFill>
            <a:srgbClr val="EDF3FB"/>
          </a:solidFill>
          <a:ln w="19050">
            <a:solidFill>
              <a:srgbClr val="003E7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" y="20308824"/>
            <a:ext cx="8860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3E74"/>
                </a:solidFill>
              </a:rPr>
              <a:t>Loss-of-function mechanism?</a:t>
            </a:r>
            <a:endParaRPr lang="en-US" sz="1700" dirty="0"/>
          </a:p>
        </p:txBody>
      </p:sp>
      <p:sp>
        <p:nvSpPr>
          <p:cNvPr id="49" name="Shape 47"/>
          <p:cNvSpPr/>
          <p:nvPr/>
        </p:nvSpPr>
        <p:spPr>
          <a:xfrm>
            <a:off x="5161788" y="20784312"/>
            <a:ext cx="0" cy="164592"/>
          </a:xfrm>
          <a:prstGeom prst="line">
            <a:avLst/>
          </a:prstGeom>
          <a:noFill/>
          <a:ln w="19050">
            <a:solidFill>
              <a:srgbClr val="003E7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31520" y="20948904"/>
            <a:ext cx="8860536" cy="475488"/>
          </a:xfrm>
          <a:prstGeom prst="roundRect">
            <a:avLst>
              <a:gd name="adj" fmla="val 13462"/>
            </a:avLst>
          </a:prstGeom>
          <a:solidFill>
            <a:srgbClr val="EDF3FB"/>
          </a:solidFill>
          <a:ln w="19050">
            <a:solidFill>
              <a:srgbClr val="003E7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1520" y="20948904"/>
            <a:ext cx="8860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3E74"/>
                </a:solidFill>
              </a:rPr>
              <a:t>CDS fits AAV / LV vector?</a:t>
            </a:r>
            <a:endParaRPr lang="en-US" sz="1700" dirty="0"/>
          </a:p>
        </p:txBody>
      </p:sp>
      <p:sp>
        <p:nvSpPr>
          <p:cNvPr id="52" name="Shape 50"/>
          <p:cNvSpPr/>
          <p:nvPr/>
        </p:nvSpPr>
        <p:spPr>
          <a:xfrm>
            <a:off x="5161788" y="21424392"/>
            <a:ext cx="0" cy="164592"/>
          </a:xfrm>
          <a:prstGeom prst="line">
            <a:avLst/>
          </a:prstGeom>
          <a:noFill/>
          <a:ln w="19050">
            <a:solidFill>
              <a:srgbClr val="003E7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31520" y="21588984"/>
            <a:ext cx="8860536" cy="475488"/>
          </a:xfrm>
          <a:prstGeom prst="roundRect">
            <a:avLst>
              <a:gd name="adj" fmla="val 13462"/>
            </a:avLst>
          </a:prstGeom>
          <a:solidFill>
            <a:srgbClr val="EDF3FB"/>
          </a:solidFill>
          <a:ln w="19050">
            <a:solidFill>
              <a:srgbClr val="003E7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1520" y="21588984"/>
            <a:ext cx="8860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3E74"/>
                </a:solidFill>
              </a:rPr>
              <a:t>Target tissue accessible?</a:t>
            </a:r>
            <a:endParaRPr lang="en-US" sz="1700" dirty="0"/>
          </a:p>
        </p:txBody>
      </p:sp>
      <p:sp>
        <p:nvSpPr>
          <p:cNvPr id="55" name="Shape 53"/>
          <p:cNvSpPr/>
          <p:nvPr/>
        </p:nvSpPr>
        <p:spPr>
          <a:xfrm>
            <a:off x="5161788" y="22064472"/>
            <a:ext cx="0" cy="164592"/>
          </a:xfrm>
          <a:prstGeom prst="line">
            <a:avLst/>
          </a:prstGeom>
          <a:noFill/>
          <a:ln w="19050">
            <a:solidFill>
              <a:srgbClr val="003E7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0" y="22229064"/>
            <a:ext cx="8860536" cy="475488"/>
          </a:xfrm>
          <a:prstGeom prst="roundRect">
            <a:avLst>
              <a:gd name="adj" fmla="val 13462"/>
            </a:avLst>
          </a:prstGeom>
          <a:solidFill>
            <a:srgbClr val="EDF3FB"/>
          </a:solidFill>
          <a:ln w="19050">
            <a:solidFill>
              <a:srgbClr val="003E7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1520" y="22229064"/>
            <a:ext cx="8860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3E74"/>
                </a:solidFill>
              </a:rPr>
              <a:t>Biological barriers resolved?</a:t>
            </a:r>
            <a:endParaRPr lang="en-US" sz="1700" dirty="0"/>
          </a:p>
        </p:txBody>
      </p:sp>
      <p:sp>
        <p:nvSpPr>
          <p:cNvPr id="58" name="Shape 56"/>
          <p:cNvSpPr/>
          <p:nvPr/>
        </p:nvSpPr>
        <p:spPr>
          <a:xfrm>
            <a:off x="731520" y="22814280"/>
            <a:ext cx="4375404" cy="457200"/>
          </a:xfrm>
          <a:prstGeom prst="roundRect">
            <a:avLst>
              <a:gd name="adj" fmla="val 14000"/>
            </a:avLst>
          </a:prstGeom>
          <a:solidFill>
            <a:srgbClr val="D4EDDA"/>
          </a:solidFill>
          <a:ln w="19050">
            <a:solidFill>
              <a:srgbClr val="1557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1520" y="22814280"/>
            <a:ext cx="4375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5724"/>
                </a:solidFill>
              </a:rPr>
              <a:t>✓ Score &amp; rank precedents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5216652" y="22814280"/>
            <a:ext cx="4375404" cy="457200"/>
          </a:xfrm>
          <a:prstGeom prst="roundRect">
            <a:avLst>
              <a:gd name="adj" fmla="val 14000"/>
            </a:avLst>
          </a:prstGeom>
          <a:solidFill>
            <a:srgbClr val="F8D7DA"/>
          </a:solidFill>
          <a:ln w="19050">
            <a:solidFill>
              <a:srgbClr val="721C2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216652" y="22814280"/>
            <a:ext cx="4375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21C24"/>
                </a:solidFill>
              </a:rPr>
              <a:t>✗ Gap = economics / prevalence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0250424" y="5733288"/>
            <a:ext cx="9774936" cy="475488"/>
          </a:xfrm>
          <a:prstGeom prst="rect">
            <a:avLst/>
          </a:prstGeom>
          <a:solidFill>
            <a:srgbClr val="003E74"/>
          </a:solidFill>
          <a:ln w="12700">
            <a:solidFill>
              <a:srgbClr val="003E7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250424" y="5733288"/>
            <a:ext cx="9774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RESULTS</a:t>
            </a:r>
            <a:endParaRPr lang="en-US" sz="2000" dirty="0"/>
          </a:p>
        </p:txBody>
      </p:sp>
      <p:sp>
        <p:nvSpPr>
          <p:cNvPr id="64" name="Shape 62"/>
          <p:cNvSpPr/>
          <p:nvPr/>
        </p:nvSpPr>
        <p:spPr>
          <a:xfrm>
            <a:off x="10250424" y="6391656"/>
            <a:ext cx="3172968" cy="1371600"/>
          </a:xfrm>
          <a:prstGeom prst="roundRect">
            <a:avLst>
              <a:gd name="adj" fmla="val 6667"/>
            </a:avLst>
          </a:prstGeom>
          <a:solidFill>
            <a:srgbClr val="003E74"/>
          </a:solidFill>
          <a:ln w="12700">
            <a:solidFill>
              <a:srgbClr val="003E7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250424" y="6483096"/>
            <a:ext cx="3172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46</a:t>
            </a:r>
            <a:endParaRPr lang="en-US" sz="5200" dirty="0"/>
          </a:p>
        </p:txBody>
      </p:sp>
      <p:sp>
        <p:nvSpPr>
          <p:cNvPr id="66" name="Text 64"/>
          <p:cNvSpPr/>
          <p:nvPr/>
        </p:nvSpPr>
        <p:spPr>
          <a:xfrm>
            <a:off x="10250424" y="7351776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BDDF0"/>
                </a:solidFill>
              </a:rPr>
              <a:t>diseases in cohort</a:t>
            </a:r>
            <a:endParaRPr lang="en-US" sz="1500" dirty="0"/>
          </a:p>
        </p:txBody>
      </p:sp>
      <p:sp>
        <p:nvSpPr>
          <p:cNvPr id="67" name="Shape 65"/>
          <p:cNvSpPr/>
          <p:nvPr/>
        </p:nvSpPr>
        <p:spPr>
          <a:xfrm>
            <a:off x="13551408" y="6391656"/>
            <a:ext cx="3172968" cy="1371600"/>
          </a:xfrm>
          <a:prstGeom prst="roundRect">
            <a:avLst>
              <a:gd name="adj" fmla="val 6667"/>
            </a:avLst>
          </a:prstGeom>
          <a:solidFill>
            <a:srgbClr val="D4012D"/>
          </a:solidFill>
          <a:ln w="12700">
            <a:solidFill>
              <a:srgbClr val="D4012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3551408" y="6483096"/>
            <a:ext cx="3172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14</a:t>
            </a:r>
            <a:endParaRPr lang="en-US" sz="5200" dirty="0"/>
          </a:p>
        </p:txBody>
      </p:sp>
      <p:sp>
        <p:nvSpPr>
          <p:cNvPr id="69" name="Text 67"/>
          <p:cNvSpPr/>
          <p:nvPr/>
        </p:nvSpPr>
        <p:spPr>
          <a:xfrm>
            <a:off x="13551408" y="7351776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BDDF0"/>
                </a:solidFill>
              </a:rPr>
              <a:t>scoring dimensions</a:t>
            </a:r>
            <a:endParaRPr lang="en-US" sz="1500" dirty="0"/>
          </a:p>
        </p:txBody>
      </p:sp>
      <p:sp>
        <p:nvSpPr>
          <p:cNvPr id="70" name="Shape 68"/>
          <p:cNvSpPr/>
          <p:nvPr/>
        </p:nvSpPr>
        <p:spPr>
          <a:xfrm>
            <a:off x="16852392" y="6391656"/>
            <a:ext cx="3172968" cy="1371600"/>
          </a:xfrm>
          <a:prstGeom prst="roundRect">
            <a:avLst>
              <a:gd name="adj" fmla="val 6667"/>
            </a:avLst>
          </a:prstGeom>
          <a:solidFill>
            <a:srgbClr val="006666"/>
          </a:solidFill>
          <a:ln w="12700">
            <a:solidFill>
              <a:srgbClr val="00666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6852392" y="6483096"/>
            <a:ext cx="3172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21</a:t>
            </a:r>
            <a:endParaRPr lang="en-US" sz="5200" dirty="0"/>
          </a:p>
        </p:txBody>
      </p:sp>
      <p:sp>
        <p:nvSpPr>
          <p:cNvPr id="72" name="Text 70"/>
          <p:cNvSpPr/>
          <p:nvPr/>
        </p:nvSpPr>
        <p:spPr>
          <a:xfrm>
            <a:off x="16852392" y="7351776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BDDF0"/>
                </a:solidFill>
              </a:rPr>
              <a:t>GT programs in database</a:t>
            </a:r>
            <a:endParaRPr lang="en-US" sz="1500" dirty="0"/>
          </a:p>
        </p:txBody>
      </p:sp>
      <p:sp>
        <p:nvSpPr>
          <p:cNvPr id="73" name="Text 71"/>
          <p:cNvSpPr/>
          <p:nvPr/>
        </p:nvSpPr>
        <p:spPr>
          <a:xfrm>
            <a:off x="10250424" y="7964424"/>
            <a:ext cx="9774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E74"/>
                </a:solidFill>
              </a:rPr>
              <a:t>Positive Controls — Framework Validation</a:t>
            </a:r>
            <a:endParaRPr lang="en-US" sz="2100" dirty="0"/>
          </a:p>
        </p:txBody>
      </p:sp>
      <p:sp>
        <p:nvSpPr>
          <p:cNvPr id="74" name="Shape 72"/>
          <p:cNvSpPr/>
          <p:nvPr/>
        </p:nvSpPr>
        <p:spPr>
          <a:xfrm>
            <a:off x="10250424" y="8311896"/>
            <a:ext cx="3063240" cy="393192"/>
          </a:xfrm>
          <a:prstGeom prst="rect">
            <a:avLst/>
          </a:prstGeom>
          <a:solidFill>
            <a:srgbClr val="003E74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323576" y="8311896"/>
            <a:ext cx="291693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Disease</a:t>
            </a:r>
            <a:endParaRPr lang="en-US" sz="1700" dirty="0"/>
          </a:p>
        </p:txBody>
      </p:sp>
      <p:sp>
        <p:nvSpPr>
          <p:cNvPr id="76" name="Shape 74"/>
          <p:cNvSpPr/>
          <p:nvPr/>
        </p:nvSpPr>
        <p:spPr>
          <a:xfrm>
            <a:off x="13313664" y="8311896"/>
            <a:ext cx="822960" cy="393192"/>
          </a:xfrm>
          <a:prstGeom prst="rect">
            <a:avLst/>
          </a:prstGeom>
          <a:solidFill>
            <a:srgbClr val="003E74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386816" y="8311896"/>
            <a:ext cx="67665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Gene</a:t>
            </a:r>
            <a:endParaRPr lang="en-US" sz="1700" dirty="0"/>
          </a:p>
        </p:txBody>
      </p:sp>
      <p:sp>
        <p:nvSpPr>
          <p:cNvPr id="78" name="Shape 76"/>
          <p:cNvSpPr/>
          <p:nvPr/>
        </p:nvSpPr>
        <p:spPr>
          <a:xfrm>
            <a:off x="14136624" y="8311896"/>
            <a:ext cx="2423160" cy="393192"/>
          </a:xfrm>
          <a:prstGeom prst="rect">
            <a:avLst/>
          </a:prstGeom>
          <a:solidFill>
            <a:srgbClr val="003E74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4209776" y="8311896"/>
            <a:ext cx="227685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Top Precedent</a:t>
            </a:r>
            <a:endParaRPr lang="en-US" sz="1700" dirty="0"/>
          </a:p>
        </p:txBody>
      </p:sp>
      <p:sp>
        <p:nvSpPr>
          <p:cNvPr id="80" name="Shape 78"/>
          <p:cNvSpPr/>
          <p:nvPr/>
        </p:nvSpPr>
        <p:spPr>
          <a:xfrm>
            <a:off x="16559784" y="8311896"/>
            <a:ext cx="822960" cy="393192"/>
          </a:xfrm>
          <a:prstGeom prst="rect">
            <a:avLst/>
          </a:prstGeom>
          <a:solidFill>
            <a:srgbClr val="003E74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6632936" y="8311896"/>
            <a:ext cx="67665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Vector</a:t>
            </a:r>
            <a:endParaRPr lang="en-US" sz="1700" dirty="0"/>
          </a:p>
        </p:txBody>
      </p:sp>
      <p:sp>
        <p:nvSpPr>
          <p:cNvPr id="82" name="Shape 80"/>
          <p:cNvSpPr/>
          <p:nvPr/>
        </p:nvSpPr>
        <p:spPr>
          <a:xfrm>
            <a:off x="17382744" y="8311896"/>
            <a:ext cx="960120" cy="393192"/>
          </a:xfrm>
          <a:prstGeom prst="rect">
            <a:avLst/>
          </a:prstGeom>
          <a:solidFill>
            <a:srgbClr val="003E74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7455896" y="8311896"/>
            <a:ext cx="8138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Score</a:t>
            </a:r>
            <a:endParaRPr lang="en-US" sz="1700" dirty="0"/>
          </a:p>
        </p:txBody>
      </p:sp>
      <p:sp>
        <p:nvSpPr>
          <p:cNvPr id="84" name="Shape 82"/>
          <p:cNvSpPr/>
          <p:nvPr/>
        </p:nvSpPr>
        <p:spPr>
          <a:xfrm>
            <a:off x="18342864" y="8311896"/>
            <a:ext cx="1325880" cy="393192"/>
          </a:xfrm>
          <a:prstGeom prst="rect">
            <a:avLst/>
          </a:prstGeom>
          <a:solidFill>
            <a:srgbClr val="003E74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8416016" y="8311896"/>
            <a:ext cx="11795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Confidence</a:t>
            </a:r>
            <a:endParaRPr lang="en-US" sz="1700" dirty="0"/>
          </a:p>
        </p:txBody>
      </p:sp>
      <p:sp>
        <p:nvSpPr>
          <p:cNvPr id="86" name="Shape 84"/>
          <p:cNvSpPr/>
          <p:nvPr/>
        </p:nvSpPr>
        <p:spPr>
          <a:xfrm>
            <a:off x="10250424" y="8705088"/>
            <a:ext cx="30632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0323576" y="8705088"/>
            <a:ext cx="291693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Spinal Muscular Atrophy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13313664" y="8705088"/>
            <a:ext cx="82296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3386816" y="8705088"/>
            <a:ext cx="67665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SMN1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14136624" y="8705088"/>
            <a:ext cx="242316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4209776" y="8705088"/>
            <a:ext cx="227685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OAV101-IT / Zolgensma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16559784" y="8705088"/>
            <a:ext cx="82296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6632936" y="8705088"/>
            <a:ext cx="67665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AAV9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17382744" y="8705088"/>
            <a:ext cx="96012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7455896" y="8705088"/>
            <a:ext cx="8138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8.3/10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18342864" y="8705088"/>
            <a:ext cx="13258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8416016" y="8705088"/>
            <a:ext cx="11795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High ✓</a:t>
            </a:r>
            <a:endParaRPr lang="en-US" sz="1600" dirty="0"/>
          </a:p>
        </p:txBody>
      </p:sp>
      <p:sp>
        <p:nvSpPr>
          <p:cNvPr id="98" name="Shape 96"/>
          <p:cNvSpPr/>
          <p:nvPr/>
        </p:nvSpPr>
        <p:spPr>
          <a:xfrm>
            <a:off x="10250424" y="9098280"/>
            <a:ext cx="3063240" cy="39319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0323576" y="9098280"/>
            <a:ext cx="291693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Hemophilia B</a:t>
            </a:r>
            <a:endParaRPr lang="en-US" sz="1600" dirty="0"/>
          </a:p>
        </p:txBody>
      </p:sp>
      <p:sp>
        <p:nvSpPr>
          <p:cNvPr id="100" name="Shape 98"/>
          <p:cNvSpPr/>
          <p:nvPr/>
        </p:nvSpPr>
        <p:spPr>
          <a:xfrm>
            <a:off x="13313664" y="9098280"/>
            <a:ext cx="822960" cy="39319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386816" y="9098280"/>
            <a:ext cx="67665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F9</a:t>
            </a:r>
            <a:endParaRPr lang="en-US" sz="1600" dirty="0"/>
          </a:p>
        </p:txBody>
      </p:sp>
      <p:sp>
        <p:nvSpPr>
          <p:cNvPr id="102" name="Shape 100"/>
          <p:cNvSpPr/>
          <p:nvPr/>
        </p:nvSpPr>
        <p:spPr>
          <a:xfrm>
            <a:off x="14136624" y="9098280"/>
            <a:ext cx="2423160" cy="39319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4209776" y="9098280"/>
            <a:ext cx="227685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Hemgenix</a:t>
            </a:r>
            <a:endParaRPr lang="en-US" sz="1600" dirty="0"/>
          </a:p>
        </p:txBody>
      </p:sp>
      <p:sp>
        <p:nvSpPr>
          <p:cNvPr id="104" name="Shape 102"/>
          <p:cNvSpPr/>
          <p:nvPr/>
        </p:nvSpPr>
        <p:spPr>
          <a:xfrm>
            <a:off x="16559784" y="9098280"/>
            <a:ext cx="822960" cy="39319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6632936" y="9098280"/>
            <a:ext cx="67665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AAV5</a:t>
            </a:r>
            <a:endParaRPr lang="en-US" sz="1600" dirty="0"/>
          </a:p>
        </p:txBody>
      </p:sp>
      <p:sp>
        <p:nvSpPr>
          <p:cNvPr id="106" name="Shape 104"/>
          <p:cNvSpPr/>
          <p:nvPr/>
        </p:nvSpPr>
        <p:spPr>
          <a:xfrm>
            <a:off x="17382744" y="9098280"/>
            <a:ext cx="960120" cy="39319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7455896" y="9098280"/>
            <a:ext cx="8138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9.9/10</a:t>
            </a:r>
            <a:endParaRPr lang="en-US" sz="1600" dirty="0"/>
          </a:p>
        </p:txBody>
      </p:sp>
      <p:sp>
        <p:nvSpPr>
          <p:cNvPr id="108" name="Shape 106"/>
          <p:cNvSpPr/>
          <p:nvPr/>
        </p:nvSpPr>
        <p:spPr>
          <a:xfrm>
            <a:off x="18342864" y="9098280"/>
            <a:ext cx="1325880" cy="39319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8416016" y="9098280"/>
            <a:ext cx="11795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High ✓</a:t>
            </a:r>
            <a:endParaRPr lang="en-US" sz="1600" dirty="0"/>
          </a:p>
        </p:txBody>
      </p:sp>
      <p:sp>
        <p:nvSpPr>
          <p:cNvPr id="110" name="Shape 108"/>
          <p:cNvSpPr/>
          <p:nvPr/>
        </p:nvSpPr>
        <p:spPr>
          <a:xfrm>
            <a:off x="10250424" y="9491472"/>
            <a:ext cx="30632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0323576" y="9491472"/>
            <a:ext cx="291693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Hemophilia A</a:t>
            </a:r>
            <a:endParaRPr lang="en-US" sz="1600" dirty="0"/>
          </a:p>
        </p:txBody>
      </p:sp>
      <p:sp>
        <p:nvSpPr>
          <p:cNvPr id="112" name="Shape 110"/>
          <p:cNvSpPr/>
          <p:nvPr/>
        </p:nvSpPr>
        <p:spPr>
          <a:xfrm>
            <a:off x="13313664" y="9491472"/>
            <a:ext cx="82296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3386816" y="9491472"/>
            <a:ext cx="67665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F8</a:t>
            </a:r>
            <a:endParaRPr lang="en-US" sz="1600" dirty="0"/>
          </a:p>
        </p:txBody>
      </p:sp>
      <p:sp>
        <p:nvSpPr>
          <p:cNvPr id="114" name="Shape 112"/>
          <p:cNvSpPr/>
          <p:nvPr/>
        </p:nvSpPr>
        <p:spPr>
          <a:xfrm>
            <a:off x="14136624" y="9491472"/>
            <a:ext cx="242316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4209776" y="9491472"/>
            <a:ext cx="227685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Hemgenix</a:t>
            </a:r>
            <a:endParaRPr lang="en-US" sz="1600" dirty="0"/>
          </a:p>
        </p:txBody>
      </p:sp>
      <p:sp>
        <p:nvSpPr>
          <p:cNvPr id="116" name="Shape 114"/>
          <p:cNvSpPr/>
          <p:nvPr/>
        </p:nvSpPr>
        <p:spPr>
          <a:xfrm>
            <a:off x="16559784" y="9491472"/>
            <a:ext cx="82296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6632936" y="9491472"/>
            <a:ext cx="67665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AAV5</a:t>
            </a:r>
            <a:endParaRPr lang="en-US" sz="1600" dirty="0"/>
          </a:p>
        </p:txBody>
      </p:sp>
      <p:sp>
        <p:nvSpPr>
          <p:cNvPr id="118" name="Shape 116"/>
          <p:cNvSpPr/>
          <p:nvPr/>
        </p:nvSpPr>
        <p:spPr>
          <a:xfrm>
            <a:off x="17382744" y="9491472"/>
            <a:ext cx="96012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7455896" y="9491472"/>
            <a:ext cx="8138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8.5/10</a:t>
            </a:r>
            <a:endParaRPr lang="en-US" sz="1600" dirty="0"/>
          </a:p>
        </p:txBody>
      </p:sp>
      <p:sp>
        <p:nvSpPr>
          <p:cNvPr id="120" name="Shape 118"/>
          <p:cNvSpPr/>
          <p:nvPr/>
        </p:nvSpPr>
        <p:spPr>
          <a:xfrm>
            <a:off x="18342864" y="9491472"/>
            <a:ext cx="132588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8416016" y="9491472"/>
            <a:ext cx="11795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High ✓</a:t>
            </a:r>
            <a:endParaRPr lang="en-US" sz="1600" dirty="0"/>
          </a:p>
        </p:txBody>
      </p:sp>
      <p:sp>
        <p:nvSpPr>
          <p:cNvPr id="122" name="Shape 120"/>
          <p:cNvSpPr/>
          <p:nvPr/>
        </p:nvSpPr>
        <p:spPr>
          <a:xfrm>
            <a:off x="10250424" y="9884664"/>
            <a:ext cx="3063240" cy="39319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0323576" y="9884664"/>
            <a:ext cx="291693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ADA-SCID</a:t>
            </a:r>
            <a:endParaRPr lang="en-US" sz="1600" dirty="0"/>
          </a:p>
        </p:txBody>
      </p:sp>
      <p:sp>
        <p:nvSpPr>
          <p:cNvPr id="124" name="Shape 122"/>
          <p:cNvSpPr/>
          <p:nvPr/>
        </p:nvSpPr>
        <p:spPr>
          <a:xfrm>
            <a:off x="13313664" y="9884664"/>
            <a:ext cx="822960" cy="39319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3386816" y="9884664"/>
            <a:ext cx="67665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ADA</a:t>
            </a:r>
            <a:endParaRPr lang="en-US" sz="1600" dirty="0"/>
          </a:p>
        </p:txBody>
      </p:sp>
      <p:sp>
        <p:nvSpPr>
          <p:cNvPr id="126" name="Shape 124"/>
          <p:cNvSpPr/>
          <p:nvPr/>
        </p:nvSpPr>
        <p:spPr>
          <a:xfrm>
            <a:off x="14136624" y="9884664"/>
            <a:ext cx="2423160" cy="39319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4209776" y="9884664"/>
            <a:ext cx="227685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Strimvelis</a:t>
            </a:r>
            <a:endParaRPr lang="en-US" sz="1600" dirty="0"/>
          </a:p>
        </p:txBody>
      </p:sp>
      <p:sp>
        <p:nvSpPr>
          <p:cNvPr id="128" name="Shape 126"/>
          <p:cNvSpPr/>
          <p:nvPr/>
        </p:nvSpPr>
        <p:spPr>
          <a:xfrm>
            <a:off x="16559784" y="9884664"/>
            <a:ext cx="822960" cy="39319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16632936" y="9884664"/>
            <a:ext cx="67665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LV</a:t>
            </a:r>
            <a:endParaRPr lang="en-US" sz="1600" dirty="0"/>
          </a:p>
        </p:txBody>
      </p:sp>
      <p:sp>
        <p:nvSpPr>
          <p:cNvPr id="130" name="Shape 128"/>
          <p:cNvSpPr/>
          <p:nvPr/>
        </p:nvSpPr>
        <p:spPr>
          <a:xfrm>
            <a:off x="17382744" y="9884664"/>
            <a:ext cx="960120" cy="39319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17455896" y="9884664"/>
            <a:ext cx="8138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8.1/10</a:t>
            </a:r>
            <a:endParaRPr lang="en-US" sz="1600" dirty="0"/>
          </a:p>
        </p:txBody>
      </p:sp>
      <p:sp>
        <p:nvSpPr>
          <p:cNvPr id="132" name="Shape 130"/>
          <p:cNvSpPr/>
          <p:nvPr/>
        </p:nvSpPr>
        <p:spPr>
          <a:xfrm>
            <a:off x="18342864" y="9884664"/>
            <a:ext cx="1325880" cy="39319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8416016" y="9884664"/>
            <a:ext cx="11795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High ✓</a:t>
            </a:r>
            <a:endParaRPr lang="en-US" sz="1600" dirty="0"/>
          </a:p>
        </p:txBody>
      </p:sp>
      <p:sp>
        <p:nvSpPr>
          <p:cNvPr id="134" name="Shape 132"/>
          <p:cNvSpPr/>
          <p:nvPr/>
        </p:nvSpPr>
        <p:spPr>
          <a:xfrm>
            <a:off x="10250424" y="10387584"/>
            <a:ext cx="9774936" cy="1441094"/>
          </a:xfrm>
          <a:prstGeom prst="roundRect">
            <a:avLst>
              <a:gd name="adj" fmla="val 4442"/>
            </a:avLst>
          </a:prstGeom>
          <a:solidFill>
            <a:srgbClr val="D4EDDA"/>
          </a:solidFill>
          <a:ln w="19050">
            <a:solidFill>
              <a:srgbClr val="155724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0415016" y="10460736"/>
            <a:ext cx="9445752" cy="12947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55724"/>
                </a:solidFill>
              </a:rPr>
              <a:t>✓ Validation confirmed
</a:t>
            </a:r>
            <a:endParaRPr lang="en-US" sz="2100" dirty="0"/>
          </a:p>
          <a:p>
            <a:pPr indent="0" marL="0">
              <a:buNone/>
            </a:pPr>
            <a:r>
              <a:rPr lang="en-US" sz="1800" dirty="0">
                <a:solidFill>
                  <a:srgbClr val="222233"/>
                </a:solidFill>
              </a:rPr>
              <a:t>All positive controls recovered their clinically expected precedent as the top-ranked match, confirming the 14-dimension scoring logic is biologically coherent.</a:t>
            </a:r>
            <a:endParaRPr lang="en-US" sz="2100" dirty="0"/>
          </a:p>
        </p:txBody>
      </p:sp>
      <p:sp>
        <p:nvSpPr>
          <p:cNvPr id="136" name="Text 134"/>
          <p:cNvSpPr/>
          <p:nvPr/>
        </p:nvSpPr>
        <p:spPr>
          <a:xfrm>
            <a:off x="10250424" y="11993270"/>
            <a:ext cx="9774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E74"/>
                </a:solidFill>
              </a:rPr>
              <a:t>Selected Pilot Cohort Results</a:t>
            </a:r>
            <a:endParaRPr lang="en-US" sz="2100" dirty="0"/>
          </a:p>
        </p:txBody>
      </p:sp>
      <p:sp>
        <p:nvSpPr>
          <p:cNvPr id="137" name="Shape 135"/>
          <p:cNvSpPr/>
          <p:nvPr/>
        </p:nvSpPr>
        <p:spPr>
          <a:xfrm>
            <a:off x="10250424" y="12340742"/>
            <a:ext cx="3108960" cy="347472"/>
          </a:xfrm>
          <a:prstGeom prst="rect">
            <a:avLst/>
          </a:prstGeom>
          <a:solidFill>
            <a:srgbClr val="003E74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10323576" y="12340742"/>
            <a:ext cx="2962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Disease</a:t>
            </a:r>
            <a:endParaRPr lang="en-US" sz="1700" dirty="0"/>
          </a:p>
        </p:txBody>
      </p:sp>
      <p:sp>
        <p:nvSpPr>
          <p:cNvPr id="139" name="Shape 137"/>
          <p:cNvSpPr/>
          <p:nvPr/>
        </p:nvSpPr>
        <p:spPr>
          <a:xfrm>
            <a:off x="13359384" y="12340742"/>
            <a:ext cx="822960" cy="347472"/>
          </a:xfrm>
          <a:prstGeom prst="rect">
            <a:avLst/>
          </a:prstGeom>
          <a:solidFill>
            <a:srgbClr val="003E74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13432536" y="12340742"/>
            <a:ext cx="676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Gene</a:t>
            </a:r>
            <a:endParaRPr lang="en-US" sz="1700" dirty="0"/>
          </a:p>
        </p:txBody>
      </p:sp>
      <p:sp>
        <p:nvSpPr>
          <p:cNvPr id="141" name="Shape 139"/>
          <p:cNvSpPr/>
          <p:nvPr/>
        </p:nvSpPr>
        <p:spPr>
          <a:xfrm>
            <a:off x="14182344" y="12340742"/>
            <a:ext cx="2743200" cy="347472"/>
          </a:xfrm>
          <a:prstGeom prst="rect">
            <a:avLst/>
          </a:prstGeom>
          <a:solidFill>
            <a:srgbClr val="003E74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4255496" y="12340742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Top Precedent</a:t>
            </a:r>
            <a:endParaRPr lang="en-US" sz="1700" dirty="0"/>
          </a:p>
        </p:txBody>
      </p:sp>
      <p:sp>
        <p:nvSpPr>
          <p:cNvPr id="143" name="Shape 141"/>
          <p:cNvSpPr/>
          <p:nvPr/>
        </p:nvSpPr>
        <p:spPr>
          <a:xfrm>
            <a:off x="16925544" y="12340742"/>
            <a:ext cx="1005840" cy="347472"/>
          </a:xfrm>
          <a:prstGeom prst="rect">
            <a:avLst/>
          </a:prstGeom>
          <a:solidFill>
            <a:srgbClr val="003E74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16998696" y="12340742"/>
            <a:ext cx="859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Score</a:t>
            </a:r>
            <a:endParaRPr lang="en-US" sz="1700" dirty="0"/>
          </a:p>
        </p:txBody>
      </p:sp>
      <p:sp>
        <p:nvSpPr>
          <p:cNvPr id="145" name="Shape 143"/>
          <p:cNvSpPr/>
          <p:nvPr/>
        </p:nvSpPr>
        <p:spPr>
          <a:xfrm>
            <a:off x="17931384" y="12340742"/>
            <a:ext cx="1371600" cy="347472"/>
          </a:xfrm>
          <a:prstGeom prst="rect">
            <a:avLst/>
          </a:prstGeom>
          <a:solidFill>
            <a:srgbClr val="003E74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18004536" y="12340742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Confidence</a:t>
            </a:r>
            <a:endParaRPr lang="en-US" sz="1700" dirty="0"/>
          </a:p>
        </p:txBody>
      </p:sp>
      <p:sp>
        <p:nvSpPr>
          <p:cNvPr id="147" name="Shape 145"/>
          <p:cNvSpPr/>
          <p:nvPr/>
        </p:nvSpPr>
        <p:spPr>
          <a:xfrm>
            <a:off x="10250424" y="12688214"/>
            <a:ext cx="3108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10323576" y="12688214"/>
            <a:ext cx="2962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MPS type I</a:t>
            </a:r>
            <a:endParaRPr lang="en-US" sz="1600" dirty="0"/>
          </a:p>
        </p:txBody>
      </p:sp>
      <p:sp>
        <p:nvSpPr>
          <p:cNvPr id="149" name="Shape 147"/>
          <p:cNvSpPr/>
          <p:nvPr/>
        </p:nvSpPr>
        <p:spPr>
          <a:xfrm>
            <a:off x="13359384" y="12688214"/>
            <a:ext cx="822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13432536" y="12688214"/>
            <a:ext cx="676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IDUA</a:t>
            </a:r>
            <a:endParaRPr lang="en-US" sz="1600" dirty="0"/>
          </a:p>
        </p:txBody>
      </p:sp>
      <p:sp>
        <p:nvSpPr>
          <p:cNvPr id="151" name="Shape 149"/>
          <p:cNvSpPr/>
          <p:nvPr/>
        </p:nvSpPr>
        <p:spPr>
          <a:xfrm>
            <a:off x="14182344" y="12688214"/>
            <a:ext cx="27432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14255496" y="12688214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Libmeldy (LV)</a:t>
            </a:r>
            <a:endParaRPr lang="en-US" sz="1600" dirty="0"/>
          </a:p>
        </p:txBody>
      </p:sp>
      <p:sp>
        <p:nvSpPr>
          <p:cNvPr id="153" name="Shape 151"/>
          <p:cNvSpPr/>
          <p:nvPr/>
        </p:nvSpPr>
        <p:spPr>
          <a:xfrm>
            <a:off x="16925544" y="12688214"/>
            <a:ext cx="10058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16998696" y="12688214"/>
            <a:ext cx="859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5724"/>
                </a:solidFill>
              </a:rPr>
              <a:t>9.5/10</a:t>
            </a:r>
            <a:endParaRPr lang="en-US" sz="1600" dirty="0"/>
          </a:p>
        </p:txBody>
      </p:sp>
      <p:sp>
        <p:nvSpPr>
          <p:cNvPr id="155" name="Shape 153"/>
          <p:cNvSpPr/>
          <p:nvPr/>
        </p:nvSpPr>
        <p:spPr>
          <a:xfrm>
            <a:off x="17931384" y="12688214"/>
            <a:ext cx="13716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18004536" y="12688214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High</a:t>
            </a:r>
            <a:endParaRPr lang="en-US" sz="1600" dirty="0"/>
          </a:p>
        </p:txBody>
      </p:sp>
      <p:sp>
        <p:nvSpPr>
          <p:cNvPr id="157" name="Shape 155"/>
          <p:cNvSpPr/>
          <p:nvPr/>
        </p:nvSpPr>
        <p:spPr>
          <a:xfrm>
            <a:off x="10250424" y="13035686"/>
            <a:ext cx="3108960" cy="34747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10323576" y="13035686"/>
            <a:ext cx="2962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MPS type II</a:t>
            </a:r>
            <a:endParaRPr lang="en-US" sz="1600" dirty="0"/>
          </a:p>
        </p:txBody>
      </p:sp>
      <p:sp>
        <p:nvSpPr>
          <p:cNvPr id="159" name="Shape 157"/>
          <p:cNvSpPr/>
          <p:nvPr/>
        </p:nvSpPr>
        <p:spPr>
          <a:xfrm>
            <a:off x="13359384" y="13035686"/>
            <a:ext cx="822960" cy="34747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13432536" y="13035686"/>
            <a:ext cx="676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IDS</a:t>
            </a:r>
            <a:endParaRPr lang="en-US" sz="1600" dirty="0"/>
          </a:p>
        </p:txBody>
      </p:sp>
      <p:sp>
        <p:nvSpPr>
          <p:cNvPr id="161" name="Shape 159"/>
          <p:cNvSpPr/>
          <p:nvPr/>
        </p:nvSpPr>
        <p:spPr>
          <a:xfrm>
            <a:off x="14182344" y="13035686"/>
            <a:ext cx="2743200" cy="34747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14255496" y="13035686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Libmeldy (LV)</a:t>
            </a:r>
            <a:endParaRPr lang="en-US" sz="1600" dirty="0"/>
          </a:p>
        </p:txBody>
      </p:sp>
      <p:sp>
        <p:nvSpPr>
          <p:cNvPr id="163" name="Shape 161"/>
          <p:cNvSpPr/>
          <p:nvPr/>
        </p:nvSpPr>
        <p:spPr>
          <a:xfrm>
            <a:off x="16925544" y="13035686"/>
            <a:ext cx="1005840" cy="34747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16998696" y="13035686"/>
            <a:ext cx="859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5724"/>
                </a:solidFill>
              </a:rPr>
              <a:t>9.3/10</a:t>
            </a:r>
            <a:endParaRPr lang="en-US" sz="1600" dirty="0"/>
          </a:p>
        </p:txBody>
      </p:sp>
      <p:sp>
        <p:nvSpPr>
          <p:cNvPr id="165" name="Shape 163"/>
          <p:cNvSpPr/>
          <p:nvPr/>
        </p:nvSpPr>
        <p:spPr>
          <a:xfrm>
            <a:off x="17931384" y="13035686"/>
            <a:ext cx="1371600" cy="34747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18004536" y="13035686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High</a:t>
            </a:r>
            <a:endParaRPr lang="en-US" sz="1600" dirty="0"/>
          </a:p>
        </p:txBody>
      </p:sp>
      <p:sp>
        <p:nvSpPr>
          <p:cNvPr id="167" name="Shape 165"/>
          <p:cNvSpPr/>
          <p:nvPr/>
        </p:nvSpPr>
        <p:spPr>
          <a:xfrm>
            <a:off x="10250424" y="13383158"/>
            <a:ext cx="3108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10323576" y="13383158"/>
            <a:ext cx="2962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MPS type IIIA (Sanfilippo)</a:t>
            </a:r>
            <a:endParaRPr lang="en-US" sz="1600" dirty="0"/>
          </a:p>
        </p:txBody>
      </p:sp>
      <p:sp>
        <p:nvSpPr>
          <p:cNvPr id="169" name="Shape 167"/>
          <p:cNvSpPr/>
          <p:nvPr/>
        </p:nvSpPr>
        <p:spPr>
          <a:xfrm>
            <a:off x="13359384" y="13383158"/>
            <a:ext cx="822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13432536" y="13383158"/>
            <a:ext cx="676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SGSH</a:t>
            </a:r>
            <a:endParaRPr lang="en-US" sz="1600" dirty="0"/>
          </a:p>
        </p:txBody>
      </p:sp>
      <p:sp>
        <p:nvSpPr>
          <p:cNvPr id="171" name="Shape 169"/>
          <p:cNvSpPr/>
          <p:nvPr/>
        </p:nvSpPr>
        <p:spPr>
          <a:xfrm>
            <a:off x="14182344" y="13383158"/>
            <a:ext cx="27432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14255496" y="13383158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Libmeldy (LV)</a:t>
            </a:r>
            <a:endParaRPr lang="en-US" sz="1600" dirty="0"/>
          </a:p>
        </p:txBody>
      </p:sp>
      <p:sp>
        <p:nvSpPr>
          <p:cNvPr id="173" name="Shape 171"/>
          <p:cNvSpPr/>
          <p:nvPr/>
        </p:nvSpPr>
        <p:spPr>
          <a:xfrm>
            <a:off x="16925544" y="13383158"/>
            <a:ext cx="10058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16998696" y="13383158"/>
            <a:ext cx="859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5724"/>
                </a:solidFill>
              </a:rPr>
              <a:t>9.2/10</a:t>
            </a:r>
            <a:endParaRPr lang="en-US" sz="1600" dirty="0"/>
          </a:p>
        </p:txBody>
      </p:sp>
      <p:sp>
        <p:nvSpPr>
          <p:cNvPr id="175" name="Shape 173"/>
          <p:cNvSpPr/>
          <p:nvPr/>
        </p:nvSpPr>
        <p:spPr>
          <a:xfrm>
            <a:off x="17931384" y="13383158"/>
            <a:ext cx="13716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18004536" y="13383158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High</a:t>
            </a:r>
            <a:endParaRPr lang="en-US" sz="1600" dirty="0"/>
          </a:p>
        </p:txBody>
      </p:sp>
      <p:sp>
        <p:nvSpPr>
          <p:cNvPr id="177" name="Shape 175"/>
          <p:cNvSpPr/>
          <p:nvPr/>
        </p:nvSpPr>
        <p:spPr>
          <a:xfrm>
            <a:off x="10250424" y="13730630"/>
            <a:ext cx="3108960" cy="34747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10323576" y="13730630"/>
            <a:ext cx="2962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Metachromatic leukodystrophy</a:t>
            </a:r>
            <a:endParaRPr lang="en-US" sz="1600" dirty="0"/>
          </a:p>
        </p:txBody>
      </p:sp>
      <p:sp>
        <p:nvSpPr>
          <p:cNvPr id="179" name="Shape 177"/>
          <p:cNvSpPr/>
          <p:nvPr/>
        </p:nvSpPr>
        <p:spPr>
          <a:xfrm>
            <a:off x="13359384" y="13730630"/>
            <a:ext cx="822960" cy="34747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13432536" y="13730630"/>
            <a:ext cx="676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ARSA</a:t>
            </a:r>
            <a:endParaRPr lang="en-US" sz="1600" dirty="0"/>
          </a:p>
        </p:txBody>
      </p:sp>
      <p:sp>
        <p:nvSpPr>
          <p:cNvPr id="181" name="Shape 179"/>
          <p:cNvSpPr/>
          <p:nvPr/>
        </p:nvSpPr>
        <p:spPr>
          <a:xfrm>
            <a:off x="14182344" y="13730630"/>
            <a:ext cx="2743200" cy="34747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14255496" y="13730630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Libmeldy (LV)</a:t>
            </a:r>
            <a:endParaRPr lang="en-US" sz="1600" dirty="0"/>
          </a:p>
        </p:txBody>
      </p:sp>
      <p:sp>
        <p:nvSpPr>
          <p:cNvPr id="183" name="Shape 181"/>
          <p:cNvSpPr/>
          <p:nvPr/>
        </p:nvSpPr>
        <p:spPr>
          <a:xfrm>
            <a:off x="16925544" y="13730630"/>
            <a:ext cx="1005840" cy="34747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16998696" y="13730630"/>
            <a:ext cx="859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5724"/>
                </a:solidFill>
              </a:rPr>
              <a:t>9.2/10</a:t>
            </a:r>
            <a:endParaRPr lang="en-US" sz="1600" dirty="0"/>
          </a:p>
        </p:txBody>
      </p:sp>
      <p:sp>
        <p:nvSpPr>
          <p:cNvPr id="185" name="Shape 183"/>
          <p:cNvSpPr/>
          <p:nvPr/>
        </p:nvSpPr>
        <p:spPr>
          <a:xfrm>
            <a:off x="17931384" y="13730630"/>
            <a:ext cx="1371600" cy="34747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18004536" y="13730630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High</a:t>
            </a:r>
            <a:endParaRPr lang="en-US" sz="1600" dirty="0"/>
          </a:p>
        </p:txBody>
      </p:sp>
      <p:sp>
        <p:nvSpPr>
          <p:cNvPr id="187" name="Shape 185"/>
          <p:cNvSpPr/>
          <p:nvPr/>
        </p:nvSpPr>
        <p:spPr>
          <a:xfrm>
            <a:off x="10250424" y="14078102"/>
            <a:ext cx="3108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10323576" y="14078102"/>
            <a:ext cx="2962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Krabbe disease</a:t>
            </a:r>
            <a:endParaRPr lang="en-US" sz="1600" dirty="0"/>
          </a:p>
        </p:txBody>
      </p:sp>
      <p:sp>
        <p:nvSpPr>
          <p:cNvPr id="189" name="Shape 187"/>
          <p:cNvSpPr/>
          <p:nvPr/>
        </p:nvSpPr>
        <p:spPr>
          <a:xfrm>
            <a:off x="13359384" y="14078102"/>
            <a:ext cx="822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13432536" y="14078102"/>
            <a:ext cx="676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GALC</a:t>
            </a:r>
            <a:endParaRPr lang="en-US" sz="1600" dirty="0"/>
          </a:p>
        </p:txBody>
      </p:sp>
      <p:sp>
        <p:nvSpPr>
          <p:cNvPr id="191" name="Shape 189"/>
          <p:cNvSpPr/>
          <p:nvPr/>
        </p:nvSpPr>
        <p:spPr>
          <a:xfrm>
            <a:off x="14182344" y="14078102"/>
            <a:ext cx="27432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14255496" y="14078102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Libmeldy (LV)</a:t>
            </a:r>
            <a:endParaRPr lang="en-US" sz="1600" dirty="0"/>
          </a:p>
        </p:txBody>
      </p:sp>
      <p:sp>
        <p:nvSpPr>
          <p:cNvPr id="193" name="Shape 191"/>
          <p:cNvSpPr/>
          <p:nvPr/>
        </p:nvSpPr>
        <p:spPr>
          <a:xfrm>
            <a:off x="16925544" y="14078102"/>
            <a:ext cx="10058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16998696" y="14078102"/>
            <a:ext cx="859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5724"/>
                </a:solidFill>
              </a:rPr>
              <a:t>9.0/10</a:t>
            </a:r>
            <a:endParaRPr lang="en-US" sz="1600" dirty="0"/>
          </a:p>
        </p:txBody>
      </p:sp>
      <p:sp>
        <p:nvSpPr>
          <p:cNvPr id="195" name="Shape 193"/>
          <p:cNvSpPr/>
          <p:nvPr/>
        </p:nvSpPr>
        <p:spPr>
          <a:xfrm>
            <a:off x="17931384" y="14078102"/>
            <a:ext cx="13716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18004536" y="14078102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High</a:t>
            </a:r>
            <a:endParaRPr lang="en-US" sz="1600" dirty="0"/>
          </a:p>
        </p:txBody>
      </p:sp>
      <p:sp>
        <p:nvSpPr>
          <p:cNvPr id="197" name="Shape 195"/>
          <p:cNvSpPr/>
          <p:nvPr/>
        </p:nvSpPr>
        <p:spPr>
          <a:xfrm>
            <a:off x="10250424" y="14425574"/>
            <a:ext cx="3108960" cy="34747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10323576" y="14425574"/>
            <a:ext cx="2962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Fabry disease</a:t>
            </a:r>
            <a:endParaRPr lang="en-US" sz="1600" dirty="0"/>
          </a:p>
        </p:txBody>
      </p:sp>
      <p:sp>
        <p:nvSpPr>
          <p:cNvPr id="199" name="Shape 197"/>
          <p:cNvSpPr/>
          <p:nvPr/>
        </p:nvSpPr>
        <p:spPr>
          <a:xfrm>
            <a:off x="13359384" y="14425574"/>
            <a:ext cx="822960" cy="34747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13432536" y="14425574"/>
            <a:ext cx="676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GLA</a:t>
            </a:r>
            <a:endParaRPr lang="en-US" sz="1600" dirty="0"/>
          </a:p>
        </p:txBody>
      </p:sp>
      <p:sp>
        <p:nvSpPr>
          <p:cNvPr id="201" name="Shape 199"/>
          <p:cNvSpPr/>
          <p:nvPr/>
        </p:nvSpPr>
        <p:spPr>
          <a:xfrm>
            <a:off x="14182344" y="14425574"/>
            <a:ext cx="2743200" cy="34747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14255496" y="14425574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Libmeldy (LV)</a:t>
            </a:r>
            <a:endParaRPr lang="en-US" sz="1600" dirty="0"/>
          </a:p>
        </p:txBody>
      </p:sp>
      <p:sp>
        <p:nvSpPr>
          <p:cNvPr id="203" name="Shape 201"/>
          <p:cNvSpPr/>
          <p:nvPr/>
        </p:nvSpPr>
        <p:spPr>
          <a:xfrm>
            <a:off x="16925544" y="14425574"/>
            <a:ext cx="1005840" cy="34747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16998696" y="14425574"/>
            <a:ext cx="859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8.9/10</a:t>
            </a:r>
            <a:endParaRPr lang="en-US" sz="1600" dirty="0"/>
          </a:p>
        </p:txBody>
      </p:sp>
      <p:sp>
        <p:nvSpPr>
          <p:cNvPr id="205" name="Shape 203"/>
          <p:cNvSpPr/>
          <p:nvPr/>
        </p:nvSpPr>
        <p:spPr>
          <a:xfrm>
            <a:off x="17931384" y="14425574"/>
            <a:ext cx="1371600" cy="34747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18004536" y="14425574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High</a:t>
            </a:r>
            <a:endParaRPr lang="en-US" sz="1600" dirty="0"/>
          </a:p>
        </p:txBody>
      </p:sp>
      <p:sp>
        <p:nvSpPr>
          <p:cNvPr id="207" name="Shape 205"/>
          <p:cNvSpPr/>
          <p:nvPr/>
        </p:nvSpPr>
        <p:spPr>
          <a:xfrm>
            <a:off x="10250424" y="14773046"/>
            <a:ext cx="3108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10323576" y="14773046"/>
            <a:ext cx="2962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Glycogen storage disease Ia</a:t>
            </a:r>
            <a:endParaRPr lang="en-US" sz="1600" dirty="0"/>
          </a:p>
        </p:txBody>
      </p:sp>
      <p:sp>
        <p:nvSpPr>
          <p:cNvPr id="209" name="Shape 207"/>
          <p:cNvSpPr/>
          <p:nvPr/>
        </p:nvSpPr>
        <p:spPr>
          <a:xfrm>
            <a:off x="13359384" y="14773046"/>
            <a:ext cx="822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13432536" y="14773046"/>
            <a:ext cx="676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G6PC1</a:t>
            </a:r>
            <a:endParaRPr lang="en-US" sz="1600" dirty="0"/>
          </a:p>
        </p:txBody>
      </p:sp>
      <p:sp>
        <p:nvSpPr>
          <p:cNvPr id="211" name="Shape 209"/>
          <p:cNvSpPr/>
          <p:nvPr/>
        </p:nvSpPr>
        <p:spPr>
          <a:xfrm>
            <a:off x="14182344" y="14773046"/>
            <a:ext cx="27432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14255496" y="14773046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SRP-9001 (AAV9)</a:t>
            </a:r>
            <a:endParaRPr lang="en-US" sz="1600" dirty="0"/>
          </a:p>
        </p:txBody>
      </p:sp>
      <p:sp>
        <p:nvSpPr>
          <p:cNvPr id="213" name="Shape 211"/>
          <p:cNvSpPr/>
          <p:nvPr/>
        </p:nvSpPr>
        <p:spPr>
          <a:xfrm>
            <a:off x="16925544" y="14773046"/>
            <a:ext cx="10058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16998696" y="14773046"/>
            <a:ext cx="859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7.8/10</a:t>
            </a:r>
            <a:endParaRPr lang="en-US" sz="1600" dirty="0"/>
          </a:p>
        </p:txBody>
      </p:sp>
      <p:sp>
        <p:nvSpPr>
          <p:cNvPr id="215" name="Shape 213"/>
          <p:cNvSpPr/>
          <p:nvPr/>
        </p:nvSpPr>
        <p:spPr>
          <a:xfrm>
            <a:off x="17931384" y="14773046"/>
            <a:ext cx="13716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18004536" y="14773046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High</a:t>
            </a:r>
            <a:endParaRPr lang="en-US" sz="1600" dirty="0"/>
          </a:p>
        </p:txBody>
      </p:sp>
      <p:sp>
        <p:nvSpPr>
          <p:cNvPr id="217" name="Shape 215"/>
          <p:cNvSpPr/>
          <p:nvPr/>
        </p:nvSpPr>
        <p:spPr>
          <a:xfrm>
            <a:off x="10250424" y="15120518"/>
            <a:ext cx="3108960" cy="34747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10323576" y="15120518"/>
            <a:ext cx="2962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Duchenne MD (stress test)</a:t>
            </a:r>
            <a:endParaRPr lang="en-US" sz="1600" dirty="0"/>
          </a:p>
        </p:txBody>
      </p:sp>
      <p:sp>
        <p:nvSpPr>
          <p:cNvPr id="219" name="Shape 217"/>
          <p:cNvSpPr/>
          <p:nvPr/>
        </p:nvSpPr>
        <p:spPr>
          <a:xfrm>
            <a:off x="13359384" y="15120518"/>
            <a:ext cx="822960" cy="34747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13432536" y="15120518"/>
            <a:ext cx="676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DMD</a:t>
            </a:r>
            <a:endParaRPr lang="en-US" sz="1600" dirty="0"/>
          </a:p>
        </p:txBody>
      </p:sp>
      <p:sp>
        <p:nvSpPr>
          <p:cNvPr id="221" name="Shape 219"/>
          <p:cNvSpPr/>
          <p:nvPr/>
        </p:nvSpPr>
        <p:spPr>
          <a:xfrm>
            <a:off x="14182344" y="15120518"/>
            <a:ext cx="2743200" cy="34747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14255496" y="15120518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SRP-9001 (AAV9)</a:t>
            </a:r>
            <a:endParaRPr lang="en-US" sz="1600" dirty="0"/>
          </a:p>
        </p:txBody>
      </p:sp>
      <p:sp>
        <p:nvSpPr>
          <p:cNvPr id="223" name="Shape 221"/>
          <p:cNvSpPr/>
          <p:nvPr/>
        </p:nvSpPr>
        <p:spPr>
          <a:xfrm>
            <a:off x="16925544" y="15120518"/>
            <a:ext cx="1005840" cy="34747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16998696" y="15120518"/>
            <a:ext cx="859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7.6/10</a:t>
            </a:r>
            <a:endParaRPr lang="en-US" sz="1600" dirty="0"/>
          </a:p>
        </p:txBody>
      </p:sp>
      <p:sp>
        <p:nvSpPr>
          <p:cNvPr id="225" name="Shape 223"/>
          <p:cNvSpPr/>
          <p:nvPr/>
        </p:nvSpPr>
        <p:spPr>
          <a:xfrm>
            <a:off x="17931384" y="15120518"/>
            <a:ext cx="1371600" cy="34747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18004536" y="15120518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High</a:t>
            </a:r>
            <a:endParaRPr lang="en-US" sz="1600" dirty="0"/>
          </a:p>
        </p:txBody>
      </p:sp>
      <p:sp>
        <p:nvSpPr>
          <p:cNvPr id="227" name="Shape 225"/>
          <p:cNvSpPr/>
          <p:nvPr/>
        </p:nvSpPr>
        <p:spPr>
          <a:xfrm>
            <a:off x="10250424" y="15467990"/>
            <a:ext cx="3108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10323576" y="15467990"/>
            <a:ext cx="2962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Rett syndrome</a:t>
            </a:r>
            <a:endParaRPr lang="en-US" sz="1600" dirty="0"/>
          </a:p>
        </p:txBody>
      </p:sp>
      <p:sp>
        <p:nvSpPr>
          <p:cNvPr id="229" name="Shape 227"/>
          <p:cNvSpPr/>
          <p:nvPr/>
        </p:nvSpPr>
        <p:spPr>
          <a:xfrm>
            <a:off x="13359384" y="15467990"/>
            <a:ext cx="822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13432536" y="15467990"/>
            <a:ext cx="676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MECP2</a:t>
            </a:r>
            <a:endParaRPr lang="en-US" sz="1600" dirty="0"/>
          </a:p>
        </p:txBody>
      </p:sp>
      <p:sp>
        <p:nvSpPr>
          <p:cNvPr id="231" name="Shape 229"/>
          <p:cNvSpPr/>
          <p:nvPr/>
        </p:nvSpPr>
        <p:spPr>
          <a:xfrm>
            <a:off x="14182344" y="15467990"/>
            <a:ext cx="27432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14255496" y="15467990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Skysona (LV)</a:t>
            </a:r>
            <a:endParaRPr lang="en-US" sz="1600" dirty="0"/>
          </a:p>
        </p:txBody>
      </p:sp>
      <p:sp>
        <p:nvSpPr>
          <p:cNvPr id="233" name="Shape 231"/>
          <p:cNvSpPr/>
          <p:nvPr/>
        </p:nvSpPr>
        <p:spPr>
          <a:xfrm>
            <a:off x="16925544" y="15467990"/>
            <a:ext cx="10058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16998696" y="15467990"/>
            <a:ext cx="859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7.4/10</a:t>
            </a:r>
            <a:endParaRPr lang="en-US" sz="1600" dirty="0"/>
          </a:p>
        </p:txBody>
      </p:sp>
      <p:sp>
        <p:nvSpPr>
          <p:cNvPr id="235" name="Shape 233"/>
          <p:cNvSpPr/>
          <p:nvPr/>
        </p:nvSpPr>
        <p:spPr>
          <a:xfrm>
            <a:off x="17931384" y="15467990"/>
            <a:ext cx="13716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18004536" y="15467990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Medium</a:t>
            </a:r>
            <a:endParaRPr lang="en-US" sz="1600" dirty="0"/>
          </a:p>
        </p:txBody>
      </p:sp>
      <p:sp>
        <p:nvSpPr>
          <p:cNvPr id="237" name="Shape 235"/>
          <p:cNvSpPr/>
          <p:nvPr/>
        </p:nvSpPr>
        <p:spPr>
          <a:xfrm>
            <a:off x="10250424" y="15815462"/>
            <a:ext cx="3108960" cy="34747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10323576" y="15815462"/>
            <a:ext cx="2962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Crigler-Najjar type I</a:t>
            </a:r>
            <a:endParaRPr lang="en-US" sz="1600" dirty="0"/>
          </a:p>
        </p:txBody>
      </p:sp>
      <p:sp>
        <p:nvSpPr>
          <p:cNvPr id="239" name="Shape 237"/>
          <p:cNvSpPr/>
          <p:nvPr/>
        </p:nvSpPr>
        <p:spPr>
          <a:xfrm>
            <a:off x="13359384" y="15815462"/>
            <a:ext cx="822960" cy="34747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13432536" y="15815462"/>
            <a:ext cx="676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UGT1A1</a:t>
            </a:r>
            <a:endParaRPr lang="en-US" sz="1600" dirty="0"/>
          </a:p>
        </p:txBody>
      </p:sp>
      <p:sp>
        <p:nvSpPr>
          <p:cNvPr id="241" name="Shape 239"/>
          <p:cNvSpPr/>
          <p:nvPr/>
        </p:nvSpPr>
        <p:spPr>
          <a:xfrm>
            <a:off x="14182344" y="15815462"/>
            <a:ext cx="2743200" cy="34747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14255496" y="15815462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Hemgenix (AAV5)</a:t>
            </a:r>
            <a:endParaRPr lang="en-US" sz="1600" dirty="0"/>
          </a:p>
        </p:txBody>
      </p:sp>
      <p:sp>
        <p:nvSpPr>
          <p:cNvPr id="243" name="Shape 241"/>
          <p:cNvSpPr/>
          <p:nvPr/>
        </p:nvSpPr>
        <p:spPr>
          <a:xfrm>
            <a:off x="16925544" y="15815462"/>
            <a:ext cx="1005840" cy="34747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16998696" y="15815462"/>
            <a:ext cx="859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7.2/10</a:t>
            </a:r>
            <a:endParaRPr lang="en-US" sz="1600" dirty="0"/>
          </a:p>
        </p:txBody>
      </p:sp>
      <p:sp>
        <p:nvSpPr>
          <p:cNvPr id="245" name="Shape 243"/>
          <p:cNvSpPr/>
          <p:nvPr/>
        </p:nvSpPr>
        <p:spPr>
          <a:xfrm>
            <a:off x="17931384" y="15815462"/>
            <a:ext cx="1371600" cy="34747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18004536" y="15815462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Medium</a:t>
            </a:r>
            <a:endParaRPr lang="en-US" sz="1600" dirty="0"/>
          </a:p>
        </p:txBody>
      </p:sp>
      <p:sp>
        <p:nvSpPr>
          <p:cNvPr id="247" name="Shape 245"/>
          <p:cNvSpPr/>
          <p:nvPr/>
        </p:nvSpPr>
        <p:spPr>
          <a:xfrm>
            <a:off x="10250424" y="16162934"/>
            <a:ext cx="3108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248" name="Text 246"/>
          <p:cNvSpPr/>
          <p:nvPr/>
        </p:nvSpPr>
        <p:spPr>
          <a:xfrm>
            <a:off x="10323576" y="16162934"/>
            <a:ext cx="2962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Leber hereditary optic neuropathy</a:t>
            </a:r>
            <a:endParaRPr lang="en-US" sz="1600" dirty="0"/>
          </a:p>
        </p:txBody>
      </p:sp>
      <p:sp>
        <p:nvSpPr>
          <p:cNvPr id="249" name="Shape 247"/>
          <p:cNvSpPr/>
          <p:nvPr/>
        </p:nvSpPr>
        <p:spPr>
          <a:xfrm>
            <a:off x="13359384" y="16162934"/>
            <a:ext cx="822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13432536" y="16162934"/>
            <a:ext cx="676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MT-ND4</a:t>
            </a:r>
            <a:endParaRPr lang="en-US" sz="1600" dirty="0"/>
          </a:p>
        </p:txBody>
      </p:sp>
      <p:sp>
        <p:nvSpPr>
          <p:cNvPr id="251" name="Shape 249"/>
          <p:cNvSpPr/>
          <p:nvPr/>
        </p:nvSpPr>
        <p:spPr>
          <a:xfrm>
            <a:off x="14182344" y="16162934"/>
            <a:ext cx="27432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14255496" y="16162934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CPCB-RPE1 (AAV8)</a:t>
            </a:r>
            <a:endParaRPr lang="en-US" sz="1600" dirty="0"/>
          </a:p>
        </p:txBody>
      </p:sp>
      <p:sp>
        <p:nvSpPr>
          <p:cNvPr id="253" name="Shape 251"/>
          <p:cNvSpPr/>
          <p:nvPr/>
        </p:nvSpPr>
        <p:spPr>
          <a:xfrm>
            <a:off x="16925544" y="16162934"/>
            <a:ext cx="10058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16998696" y="16162934"/>
            <a:ext cx="859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6.4/10</a:t>
            </a:r>
            <a:endParaRPr lang="en-US" sz="1600" dirty="0"/>
          </a:p>
        </p:txBody>
      </p:sp>
      <p:sp>
        <p:nvSpPr>
          <p:cNvPr id="255" name="Shape 253"/>
          <p:cNvSpPr/>
          <p:nvPr/>
        </p:nvSpPr>
        <p:spPr>
          <a:xfrm>
            <a:off x="17931384" y="16162934"/>
            <a:ext cx="13716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18004536" y="16162934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Medium</a:t>
            </a:r>
            <a:endParaRPr lang="en-US" sz="1600" dirty="0"/>
          </a:p>
        </p:txBody>
      </p:sp>
      <p:sp>
        <p:nvSpPr>
          <p:cNvPr id="257" name="Shape 255"/>
          <p:cNvSpPr/>
          <p:nvPr/>
        </p:nvSpPr>
        <p:spPr>
          <a:xfrm>
            <a:off x="10250424" y="16510406"/>
            <a:ext cx="3108960" cy="34747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10323576" y="16510406"/>
            <a:ext cx="2962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Neurofibromatosis type 1</a:t>
            </a:r>
            <a:endParaRPr lang="en-US" sz="1600" dirty="0"/>
          </a:p>
        </p:txBody>
      </p:sp>
      <p:sp>
        <p:nvSpPr>
          <p:cNvPr id="259" name="Shape 257"/>
          <p:cNvSpPr/>
          <p:nvPr/>
        </p:nvSpPr>
        <p:spPr>
          <a:xfrm>
            <a:off x="13359384" y="16510406"/>
            <a:ext cx="822960" cy="34747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13432536" y="16510406"/>
            <a:ext cx="6766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NF1</a:t>
            </a:r>
            <a:endParaRPr lang="en-US" sz="1600" dirty="0"/>
          </a:p>
        </p:txBody>
      </p:sp>
      <p:sp>
        <p:nvSpPr>
          <p:cNvPr id="261" name="Shape 259"/>
          <p:cNvSpPr/>
          <p:nvPr/>
        </p:nvSpPr>
        <p:spPr>
          <a:xfrm>
            <a:off x="14182344" y="16510406"/>
            <a:ext cx="2743200" cy="34747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14255496" y="16510406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—</a:t>
            </a:r>
            <a:endParaRPr lang="en-US" sz="1600" dirty="0"/>
          </a:p>
        </p:txBody>
      </p:sp>
      <p:sp>
        <p:nvSpPr>
          <p:cNvPr id="263" name="Shape 261"/>
          <p:cNvSpPr/>
          <p:nvPr/>
        </p:nvSpPr>
        <p:spPr>
          <a:xfrm>
            <a:off x="16925544" y="16510406"/>
            <a:ext cx="1005840" cy="34747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16998696" y="16510406"/>
            <a:ext cx="859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21C24"/>
                </a:solidFill>
              </a:rPr>
              <a:t>Pkg. fail</a:t>
            </a:r>
            <a:endParaRPr lang="en-US" sz="1600" dirty="0"/>
          </a:p>
        </p:txBody>
      </p:sp>
      <p:sp>
        <p:nvSpPr>
          <p:cNvPr id="265" name="Shape 263"/>
          <p:cNvSpPr/>
          <p:nvPr/>
        </p:nvSpPr>
        <p:spPr>
          <a:xfrm>
            <a:off x="17931384" y="16510406"/>
            <a:ext cx="1371600" cy="347472"/>
          </a:xfrm>
          <a:prstGeom prst="rect">
            <a:avLst/>
          </a:prstGeom>
          <a:solidFill>
            <a:srgbClr val="F2F6FD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18004536" y="16510406"/>
            <a:ext cx="1225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33"/>
                </a:solidFill>
              </a:rPr>
              <a:t>—</a:t>
            </a:r>
            <a:endParaRPr lang="en-US" sz="1600" dirty="0"/>
          </a:p>
        </p:txBody>
      </p:sp>
      <p:sp>
        <p:nvSpPr>
          <p:cNvPr id="267" name="Text 265"/>
          <p:cNvSpPr/>
          <p:nvPr/>
        </p:nvSpPr>
        <p:spPr>
          <a:xfrm>
            <a:off x="10250424" y="16995038"/>
            <a:ext cx="9774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E74"/>
                </a:solidFill>
              </a:rPr>
              <a:t>Precedent Clustering by Tissue Target</a:t>
            </a:r>
            <a:endParaRPr lang="en-US" sz="2100" dirty="0"/>
          </a:p>
        </p:txBody>
      </p:sp>
      <p:sp>
        <p:nvSpPr>
          <p:cNvPr id="268" name="Text 266"/>
          <p:cNvSpPr/>
          <p:nvPr/>
        </p:nvSpPr>
        <p:spPr>
          <a:xfrm>
            <a:off x="10250424" y="17342510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22233"/>
                </a:solidFill>
              </a:rPr>
              <a:t>Libmeldy / LV</a:t>
            </a:r>
            <a:endParaRPr lang="en-US" sz="1700" dirty="0"/>
          </a:p>
        </p:txBody>
      </p:sp>
      <p:sp>
        <p:nvSpPr>
          <p:cNvPr id="269" name="Shape 267"/>
          <p:cNvSpPr/>
          <p:nvPr/>
        </p:nvSpPr>
        <p:spPr>
          <a:xfrm>
            <a:off x="12444984" y="17388230"/>
            <a:ext cx="7077456" cy="320040"/>
          </a:xfrm>
          <a:prstGeom prst="roundRect">
            <a:avLst>
              <a:gd name="adj" fmla="val 14286"/>
            </a:avLst>
          </a:prstGeom>
          <a:solidFill>
            <a:srgbClr val="E0E8F5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12444984" y="17388230"/>
            <a:ext cx="5378867" cy="320040"/>
          </a:xfrm>
          <a:prstGeom prst="roundRect">
            <a:avLst>
              <a:gd name="adj" fmla="val 14286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12554712" y="17388230"/>
            <a:ext cx="524170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Lysosomal, leukodystrophy, HSC</a:t>
            </a:r>
            <a:endParaRPr lang="en-US" sz="1500" dirty="0"/>
          </a:p>
        </p:txBody>
      </p:sp>
      <p:sp>
        <p:nvSpPr>
          <p:cNvPr id="272" name="Text 270"/>
          <p:cNvSpPr/>
          <p:nvPr/>
        </p:nvSpPr>
        <p:spPr>
          <a:xfrm>
            <a:off x="19632168" y="1734251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E74"/>
                </a:solidFill>
              </a:rPr>
              <a:t>20</a:t>
            </a:r>
            <a:endParaRPr lang="en-US" sz="1900" dirty="0"/>
          </a:p>
        </p:txBody>
      </p:sp>
      <p:sp>
        <p:nvSpPr>
          <p:cNvPr id="273" name="Text 271"/>
          <p:cNvSpPr/>
          <p:nvPr/>
        </p:nvSpPr>
        <p:spPr>
          <a:xfrm>
            <a:off x="10250424" y="17845430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22233"/>
                </a:solidFill>
              </a:rPr>
              <a:t>BMN 307 / AAV5</a:t>
            </a:r>
            <a:endParaRPr lang="en-US" sz="1700" dirty="0"/>
          </a:p>
        </p:txBody>
      </p:sp>
      <p:sp>
        <p:nvSpPr>
          <p:cNvPr id="274" name="Shape 272"/>
          <p:cNvSpPr/>
          <p:nvPr/>
        </p:nvSpPr>
        <p:spPr>
          <a:xfrm>
            <a:off x="12444984" y="17891150"/>
            <a:ext cx="7077456" cy="320040"/>
          </a:xfrm>
          <a:prstGeom prst="roundRect">
            <a:avLst>
              <a:gd name="adj" fmla="val 14286"/>
            </a:avLst>
          </a:prstGeom>
          <a:solidFill>
            <a:srgbClr val="E0E8F5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12444984" y="17891150"/>
            <a:ext cx="2264786" cy="320040"/>
          </a:xfrm>
          <a:prstGeom prst="roundRect">
            <a:avLst>
              <a:gd name="adj" fmla="val 1428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12554712" y="17891150"/>
            <a:ext cx="212762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Liver metabolic diseases</a:t>
            </a:r>
            <a:endParaRPr lang="en-US" sz="1500" dirty="0"/>
          </a:p>
        </p:txBody>
      </p:sp>
      <p:sp>
        <p:nvSpPr>
          <p:cNvPr id="277" name="Text 275"/>
          <p:cNvSpPr/>
          <p:nvPr/>
        </p:nvSpPr>
        <p:spPr>
          <a:xfrm>
            <a:off x="19632168" y="1784543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E74"/>
                </a:solidFill>
              </a:rPr>
              <a:t>8</a:t>
            </a:r>
            <a:endParaRPr lang="en-US" sz="1900" dirty="0"/>
          </a:p>
        </p:txBody>
      </p:sp>
      <p:sp>
        <p:nvSpPr>
          <p:cNvPr id="278" name="Text 276"/>
          <p:cNvSpPr/>
          <p:nvPr/>
        </p:nvSpPr>
        <p:spPr>
          <a:xfrm>
            <a:off x="10250424" y="18348350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22233"/>
                </a:solidFill>
              </a:rPr>
              <a:t>OAV101-IT / AAV9</a:t>
            </a:r>
            <a:endParaRPr lang="en-US" sz="1700" dirty="0"/>
          </a:p>
        </p:txBody>
      </p:sp>
      <p:sp>
        <p:nvSpPr>
          <p:cNvPr id="279" name="Shape 277"/>
          <p:cNvSpPr/>
          <p:nvPr/>
        </p:nvSpPr>
        <p:spPr>
          <a:xfrm>
            <a:off x="12444984" y="18394070"/>
            <a:ext cx="7077456" cy="320040"/>
          </a:xfrm>
          <a:prstGeom prst="roundRect">
            <a:avLst>
              <a:gd name="adj" fmla="val 14286"/>
            </a:avLst>
          </a:prstGeom>
          <a:solidFill>
            <a:srgbClr val="E0E8F5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12444984" y="18394070"/>
            <a:ext cx="1698589" cy="320040"/>
          </a:xfrm>
          <a:prstGeom prst="roundRect">
            <a:avLst>
              <a:gd name="adj" fmla="val 14286"/>
            </a:avLst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281" name="Text 279"/>
          <p:cNvSpPr/>
          <p:nvPr/>
        </p:nvSpPr>
        <p:spPr>
          <a:xfrm>
            <a:off x="12554712" y="18394070"/>
            <a:ext cx="156142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CNS, muscle diseases</a:t>
            </a:r>
            <a:endParaRPr lang="en-US" sz="1500" dirty="0"/>
          </a:p>
        </p:txBody>
      </p:sp>
      <p:sp>
        <p:nvSpPr>
          <p:cNvPr id="282" name="Text 280"/>
          <p:cNvSpPr/>
          <p:nvPr/>
        </p:nvSpPr>
        <p:spPr>
          <a:xfrm>
            <a:off x="19632168" y="1834835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E74"/>
                </a:solidFill>
              </a:rPr>
              <a:t>6</a:t>
            </a:r>
            <a:endParaRPr lang="en-US" sz="1900" dirty="0"/>
          </a:p>
        </p:txBody>
      </p:sp>
      <p:sp>
        <p:nvSpPr>
          <p:cNvPr id="283" name="Text 281"/>
          <p:cNvSpPr/>
          <p:nvPr/>
        </p:nvSpPr>
        <p:spPr>
          <a:xfrm>
            <a:off x="10250424" y="18851270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22233"/>
                </a:solidFill>
              </a:rPr>
              <a:t>Luxturna / AAV2</a:t>
            </a:r>
            <a:endParaRPr lang="en-US" sz="1700" dirty="0"/>
          </a:p>
        </p:txBody>
      </p:sp>
      <p:sp>
        <p:nvSpPr>
          <p:cNvPr id="284" name="Shape 282"/>
          <p:cNvSpPr/>
          <p:nvPr/>
        </p:nvSpPr>
        <p:spPr>
          <a:xfrm>
            <a:off x="12444984" y="18896990"/>
            <a:ext cx="7077456" cy="320040"/>
          </a:xfrm>
          <a:prstGeom prst="roundRect">
            <a:avLst>
              <a:gd name="adj" fmla="val 14286"/>
            </a:avLst>
          </a:prstGeom>
          <a:solidFill>
            <a:srgbClr val="E0E8F5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12444984" y="18896990"/>
            <a:ext cx="1132393" cy="320040"/>
          </a:xfrm>
          <a:prstGeom prst="roundRect">
            <a:avLst>
              <a:gd name="adj" fmla="val 14286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12554712" y="18896990"/>
            <a:ext cx="99523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Retinal diseases</a:t>
            </a:r>
            <a:endParaRPr lang="en-US" sz="1500" dirty="0"/>
          </a:p>
        </p:txBody>
      </p:sp>
      <p:sp>
        <p:nvSpPr>
          <p:cNvPr id="287" name="Text 285"/>
          <p:cNvSpPr/>
          <p:nvPr/>
        </p:nvSpPr>
        <p:spPr>
          <a:xfrm>
            <a:off x="19632168" y="1885127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E74"/>
                </a:solidFill>
              </a:rPr>
              <a:t>4</a:t>
            </a:r>
            <a:endParaRPr lang="en-US" sz="1900" dirty="0"/>
          </a:p>
        </p:txBody>
      </p:sp>
      <p:sp>
        <p:nvSpPr>
          <p:cNvPr id="288" name="Text 286"/>
          <p:cNvSpPr/>
          <p:nvPr/>
        </p:nvSpPr>
        <p:spPr>
          <a:xfrm>
            <a:off x="10250424" y="19354190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22233"/>
                </a:solidFill>
              </a:rPr>
              <a:t>Packaging fail</a:t>
            </a:r>
            <a:endParaRPr lang="en-US" sz="1700" dirty="0"/>
          </a:p>
        </p:txBody>
      </p:sp>
      <p:sp>
        <p:nvSpPr>
          <p:cNvPr id="289" name="Shape 287"/>
          <p:cNvSpPr/>
          <p:nvPr/>
        </p:nvSpPr>
        <p:spPr>
          <a:xfrm>
            <a:off x="12444984" y="19399910"/>
            <a:ext cx="7077456" cy="320040"/>
          </a:xfrm>
          <a:prstGeom prst="roundRect">
            <a:avLst>
              <a:gd name="adj" fmla="val 14286"/>
            </a:avLst>
          </a:prstGeom>
          <a:solidFill>
            <a:srgbClr val="E0E8F5"/>
          </a:solidFill>
          <a:ln w="12700">
            <a:solidFill>
              <a:srgbClr val="E0E8F5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12444984" y="1939991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91" name="Text 289"/>
          <p:cNvSpPr/>
          <p:nvPr/>
        </p:nvSpPr>
        <p:spPr>
          <a:xfrm>
            <a:off x="12554712" y="1939991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Oversized CDS</a:t>
            </a:r>
            <a:endParaRPr lang="en-US" sz="1500" dirty="0"/>
          </a:p>
        </p:txBody>
      </p:sp>
      <p:sp>
        <p:nvSpPr>
          <p:cNvPr id="292" name="Text 290"/>
          <p:cNvSpPr/>
          <p:nvPr/>
        </p:nvSpPr>
        <p:spPr>
          <a:xfrm>
            <a:off x="19632168" y="1935419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E74"/>
                </a:solidFill>
              </a:rPr>
              <a:t>1</a:t>
            </a:r>
            <a:endParaRPr lang="en-US" sz="1900" dirty="0"/>
          </a:p>
        </p:txBody>
      </p:sp>
      <p:sp>
        <p:nvSpPr>
          <p:cNvPr id="293" name="Shape 291"/>
          <p:cNvSpPr/>
          <p:nvPr/>
        </p:nvSpPr>
        <p:spPr>
          <a:xfrm>
            <a:off x="20226528" y="5733288"/>
            <a:ext cx="9774936" cy="475488"/>
          </a:xfrm>
          <a:prstGeom prst="rect">
            <a:avLst/>
          </a:prstGeom>
          <a:solidFill>
            <a:srgbClr val="003E74"/>
          </a:solidFill>
          <a:ln w="12700">
            <a:solidFill>
              <a:srgbClr val="003E74"/>
            </a:solidFill>
            <a:prstDash val="solid"/>
          </a:ln>
        </p:spPr>
      </p:sp>
      <p:sp>
        <p:nvSpPr>
          <p:cNvPr id="294" name="Text 292"/>
          <p:cNvSpPr/>
          <p:nvPr/>
        </p:nvSpPr>
        <p:spPr>
          <a:xfrm>
            <a:off x="20226528" y="5733288"/>
            <a:ext cx="9774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KEY FINDING</a:t>
            </a:r>
            <a:endParaRPr lang="en-US" sz="2000" dirty="0"/>
          </a:p>
        </p:txBody>
      </p:sp>
      <p:sp>
        <p:nvSpPr>
          <p:cNvPr id="295" name="Shape 293"/>
          <p:cNvSpPr/>
          <p:nvPr/>
        </p:nvSpPr>
        <p:spPr>
          <a:xfrm>
            <a:off x="20226528" y="6391656"/>
            <a:ext cx="9774936" cy="1508760"/>
          </a:xfrm>
          <a:prstGeom prst="roundRect">
            <a:avLst>
              <a:gd name="adj" fmla="val 6061"/>
            </a:avLst>
          </a:prstGeom>
          <a:solidFill>
            <a:srgbClr val="003E74"/>
          </a:solidFill>
          <a:ln w="12700">
            <a:solidFill>
              <a:srgbClr val="003E74"/>
            </a:solidFill>
            <a:prstDash val="solid"/>
          </a:ln>
        </p:spPr>
      </p:sp>
      <p:sp>
        <p:nvSpPr>
          <p:cNvPr id="296" name="Text 294"/>
          <p:cNvSpPr/>
          <p:nvPr/>
        </p:nvSpPr>
        <p:spPr>
          <a:xfrm>
            <a:off x="20409408" y="6483096"/>
            <a:ext cx="940917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“</a:t>
            </a:r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</a:rPr>
              <a:t> If a disease has clear loss-of-function biology, an AAV-deliverable gene, and a tractable target tissue — but no gene therapy programme exists — the gap is likely </a:t>
            </a:r>
            <a:pPr indent="0" marL="0">
              <a:buNone/>
            </a:pPr>
            <a:r>
              <a:rPr lang="en-US" sz="1900" b="1" i="1" dirty="0">
                <a:solidFill>
                  <a:srgbClr val="FFD080"/>
                </a:solidFill>
              </a:rPr>
              <a:t>economics and prevalence, not biology.</a:t>
            </a:r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</a:rPr>
              <a:t> NanoGT makes this gap visible and quantifiable.</a:t>
            </a:r>
            <a:endParaRPr lang="en-US" sz="4800" dirty="0"/>
          </a:p>
        </p:txBody>
      </p:sp>
      <p:sp>
        <p:nvSpPr>
          <p:cNvPr id="297" name="Shape 295"/>
          <p:cNvSpPr/>
          <p:nvPr/>
        </p:nvSpPr>
        <p:spPr>
          <a:xfrm>
            <a:off x="20226528" y="8083296"/>
            <a:ext cx="9774936" cy="475488"/>
          </a:xfrm>
          <a:prstGeom prst="rect">
            <a:avLst/>
          </a:prstGeom>
          <a:solidFill>
            <a:srgbClr val="003E74"/>
          </a:solidFill>
          <a:ln w="12700">
            <a:solidFill>
              <a:srgbClr val="003E74"/>
            </a:solidFill>
            <a:prstDash val="solid"/>
          </a:ln>
        </p:spPr>
      </p:sp>
      <p:sp>
        <p:nvSpPr>
          <p:cNvPr id="298" name="Text 296"/>
          <p:cNvSpPr/>
          <p:nvPr/>
        </p:nvSpPr>
        <p:spPr>
          <a:xfrm>
            <a:off x="20226528" y="8083296"/>
            <a:ext cx="9774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BIOLOGICAL FINDINGS</a:t>
            </a:r>
            <a:endParaRPr lang="en-US" sz="2000" dirty="0"/>
          </a:p>
        </p:txBody>
      </p:sp>
      <p:sp>
        <p:nvSpPr>
          <p:cNvPr id="299" name="Text 297"/>
          <p:cNvSpPr/>
          <p:nvPr/>
        </p:nvSpPr>
        <p:spPr>
          <a:xfrm>
            <a:off x="20226528" y="8741664"/>
            <a:ext cx="9774936" cy="36246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233"/>
                </a:solidFill>
              </a:rPr>
              <a:t>Lysosomal cluster: Diseases sharing secreted lysosomal enzyme biology (MPS I/II/IIIA, MLD, Krabbe, Gaucher, Fabry) converge on Libmeldy/LV — cross-correction biology is the dominant score driver.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233"/>
                </a:solidFill>
              </a:rPr>
              <a:t>Liver metabolic cluster: Hepatic enzyme disorders (Crigler-Najjar, OTC deficiency, PKU, methylmalonic acidaemia) cluster around BMN 307/AAV5 — established liver tropism and manufacturing precedent transfers broadly.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233"/>
                </a:solidFill>
              </a:rPr>
              <a:t>Retinal cluster: Luxturna/AAV2 and CPCB-RPE1/AAV8 capture most retinal LOF diseases — immune-privileged compartment and cone/rod tropism are decisive.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233"/>
                </a:solidFill>
              </a:rPr>
              <a:t>Membrane proteins score lower: MCOLN1 and NPC1 cannot exploit cross-correction; per-cell delivery requirement reduces confidence.</a:t>
            </a:r>
            <a:endParaRPr lang="en-US" sz="1800" dirty="0"/>
          </a:p>
        </p:txBody>
      </p:sp>
      <p:sp>
        <p:nvSpPr>
          <p:cNvPr id="300" name="Text 298"/>
          <p:cNvSpPr/>
          <p:nvPr/>
        </p:nvSpPr>
        <p:spPr>
          <a:xfrm>
            <a:off x="20226528" y="12503506"/>
            <a:ext cx="9774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E74"/>
                </a:solidFill>
              </a:rPr>
              <a:t>Non-Loss-of-Function Extension</a:t>
            </a:r>
            <a:endParaRPr lang="en-US" sz="2100" dirty="0"/>
          </a:p>
        </p:txBody>
      </p:sp>
      <p:sp>
        <p:nvSpPr>
          <p:cNvPr id="301" name="Text 299"/>
          <p:cNvSpPr/>
          <p:nvPr/>
        </p:nvSpPr>
        <p:spPr>
          <a:xfrm>
            <a:off x="20226528" y="12850978"/>
            <a:ext cx="977493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33"/>
                </a:solidFill>
              </a:rPr>
              <a:t>Extended to haploinsufficiency (Rett, TSC, NF1, CHARGE) and repeat-expansion silencing (Fragile X, Friedreich ataxia). Friedreich ataxia scores 7.9/10 — cDNA addition bypasses the silenced endogenous allele. NF1 triggers a hard packaging fail, correctly flagging a fundamental biological constraint.</a:t>
            </a:r>
            <a:endParaRPr lang="en-US" sz="1800" dirty="0"/>
          </a:p>
        </p:txBody>
      </p:sp>
      <p:sp>
        <p:nvSpPr>
          <p:cNvPr id="302" name="Shape 300"/>
          <p:cNvSpPr/>
          <p:nvPr/>
        </p:nvSpPr>
        <p:spPr>
          <a:xfrm>
            <a:off x="20226528" y="14496898"/>
            <a:ext cx="9774936" cy="1737360"/>
          </a:xfrm>
          <a:prstGeom prst="roundRect">
            <a:avLst>
              <a:gd name="adj" fmla="val 3684"/>
            </a:avLst>
          </a:prstGeom>
          <a:solidFill>
            <a:srgbClr val="EDF3FB"/>
          </a:solidFill>
          <a:ln w="19050">
            <a:solidFill>
              <a:srgbClr val="003E74"/>
            </a:solidFill>
            <a:prstDash val="solid"/>
          </a:ln>
        </p:spPr>
      </p:sp>
      <p:sp>
        <p:nvSpPr>
          <p:cNvPr id="303" name="Text 301"/>
          <p:cNvSpPr/>
          <p:nvPr/>
        </p:nvSpPr>
        <p:spPr>
          <a:xfrm>
            <a:off x="20391120" y="14570050"/>
            <a:ext cx="9445752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03E74"/>
                </a:solidFill>
              </a:rPr>
              <a:t>Novel: Organelle Targeting Dimension
</a:t>
            </a:r>
            <a:endParaRPr lang="en-US" sz="2100" dirty="0"/>
          </a:p>
          <a:p>
            <a:pPr indent="0" marL="0">
              <a:buNone/>
            </a:pPr>
            <a:r>
              <a:rPr lang="en-US" sz="1800" dirty="0">
                <a:solidFill>
                  <a:srgbClr val="222233"/>
                </a:solidFill>
              </a:rPr>
              <a:t>Standard frameworks miss a category error: proteins requiring delivery to specific subcellular compartments (mitochondria, peroxisomes) must have intact targeting signals. NanoGT scores this explicitly via the organelle targeting dimension.</a:t>
            </a:r>
            <a:endParaRPr lang="en-US" sz="2100" dirty="0"/>
          </a:p>
        </p:txBody>
      </p:sp>
      <p:sp>
        <p:nvSpPr>
          <p:cNvPr id="304" name="Shape 302"/>
          <p:cNvSpPr/>
          <p:nvPr/>
        </p:nvSpPr>
        <p:spPr>
          <a:xfrm>
            <a:off x="20226528" y="16398850"/>
            <a:ext cx="9774936" cy="475488"/>
          </a:xfrm>
          <a:prstGeom prst="rect">
            <a:avLst/>
          </a:prstGeom>
          <a:solidFill>
            <a:srgbClr val="003E74"/>
          </a:solidFill>
          <a:ln w="12700">
            <a:solidFill>
              <a:srgbClr val="003E74"/>
            </a:solidFill>
            <a:prstDash val="solid"/>
          </a:ln>
        </p:spPr>
      </p:sp>
      <p:sp>
        <p:nvSpPr>
          <p:cNvPr id="305" name="Text 303"/>
          <p:cNvSpPr/>
          <p:nvPr/>
        </p:nvSpPr>
        <p:spPr>
          <a:xfrm>
            <a:off x="20226528" y="16398850"/>
            <a:ext cx="9774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306" name="Text 304"/>
          <p:cNvSpPr/>
          <p:nvPr/>
        </p:nvSpPr>
        <p:spPr>
          <a:xfrm>
            <a:off x="20226528" y="17057218"/>
            <a:ext cx="9774936" cy="27358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233"/>
                </a:solidFill>
              </a:rPr>
              <a:t>Surrogate database is curated (21 programs) — not comprehensive; clinical-stage programmes may be missed.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233"/>
                </a:solidFill>
              </a:rPr>
              <a:t>Scoring is heuristic, not probabilistic; weights are biologically motivated but not trained on outcome data.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233"/>
                </a:solidFill>
              </a:rPr>
              <a:t>Disease biology relies on Orphanet/OMIM curation — errors in source data propagate.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233"/>
                </a:solidFill>
              </a:rPr>
              <a:t>Not a clinical decision tool — outputs require expert review before any therapeutic inference.</a:t>
            </a:r>
            <a:endParaRPr lang="en-US" sz="1800" dirty="0"/>
          </a:p>
        </p:txBody>
      </p:sp>
      <p:sp>
        <p:nvSpPr>
          <p:cNvPr id="307" name="Shape 305"/>
          <p:cNvSpPr/>
          <p:nvPr/>
        </p:nvSpPr>
        <p:spPr>
          <a:xfrm>
            <a:off x="20226528" y="19930262"/>
            <a:ext cx="9774936" cy="475488"/>
          </a:xfrm>
          <a:prstGeom prst="rect">
            <a:avLst/>
          </a:prstGeom>
          <a:solidFill>
            <a:srgbClr val="003E74"/>
          </a:solidFill>
          <a:ln w="12700">
            <a:solidFill>
              <a:srgbClr val="003E74"/>
            </a:solidFill>
            <a:prstDash val="solid"/>
          </a:ln>
        </p:spPr>
      </p:sp>
      <p:sp>
        <p:nvSpPr>
          <p:cNvPr id="308" name="Text 306"/>
          <p:cNvSpPr/>
          <p:nvPr/>
        </p:nvSpPr>
        <p:spPr>
          <a:xfrm>
            <a:off x="20226528" y="19930262"/>
            <a:ext cx="9774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CONCLUSIONS</a:t>
            </a:r>
            <a:endParaRPr lang="en-US" sz="2000" dirty="0"/>
          </a:p>
        </p:txBody>
      </p:sp>
      <p:sp>
        <p:nvSpPr>
          <p:cNvPr id="309" name="Text 307"/>
          <p:cNvSpPr/>
          <p:nvPr/>
        </p:nvSpPr>
        <p:spPr>
          <a:xfrm>
            <a:off x="20226528" y="20588630"/>
            <a:ext cx="9774936" cy="39209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233"/>
                </a:solidFill>
              </a:rPr>
              <a:t>NanoGT correctly identifies clinically validated precedents for all positive control diseases, confirming the 14-dimension framework is biologically coherent.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233"/>
                </a:solidFill>
              </a:rPr>
              <a:t>The 46-disease cohort reveals systematic clustering around a small number of approved vector-tissue combinations — the foundational precedent work could benefit many untreated diseases.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233"/>
                </a:solidFill>
              </a:rPr>
              <a:t>Diseases where LoF is clear, AAV delivery is feasible, and no programme exists represent gaps attributable to economics rather than biology — a result meaningful in itself.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22233"/>
                </a:solidFill>
              </a:rPr>
              <a:t>NanoGT provides an open, extensible, public-database-driven tool making precedent identification accessible to patient groups and small academic teams.</a:t>
            </a:r>
            <a:endParaRPr lang="en-US" sz="1800" dirty="0"/>
          </a:p>
        </p:txBody>
      </p:sp>
      <p:sp>
        <p:nvSpPr>
          <p:cNvPr id="310" name="Shape 308"/>
          <p:cNvSpPr/>
          <p:nvPr/>
        </p:nvSpPr>
        <p:spPr>
          <a:xfrm>
            <a:off x="20226528" y="24646738"/>
            <a:ext cx="9774936" cy="475488"/>
          </a:xfrm>
          <a:prstGeom prst="rect">
            <a:avLst/>
          </a:prstGeom>
          <a:solidFill>
            <a:srgbClr val="003E74"/>
          </a:solidFill>
          <a:ln w="12700">
            <a:solidFill>
              <a:srgbClr val="003E74"/>
            </a:solidFill>
            <a:prstDash val="solid"/>
          </a:ln>
        </p:spPr>
      </p:sp>
      <p:sp>
        <p:nvSpPr>
          <p:cNvPr id="311" name="Text 309"/>
          <p:cNvSpPr/>
          <p:nvPr/>
        </p:nvSpPr>
        <p:spPr>
          <a:xfrm>
            <a:off x="20226528" y="24646738"/>
            <a:ext cx="9774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REFERENCES</a:t>
            </a:r>
            <a:endParaRPr lang="en-US" sz="2000" dirty="0"/>
          </a:p>
        </p:txBody>
      </p:sp>
      <p:sp>
        <p:nvSpPr>
          <p:cNvPr id="312" name="Text 310"/>
          <p:cNvSpPr/>
          <p:nvPr/>
        </p:nvSpPr>
        <p:spPr>
          <a:xfrm>
            <a:off x="20226528" y="25305106"/>
            <a:ext cx="9774936" cy="-5197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55566"/>
                </a:solidFill>
              </a:rPr>
              <a:t>[1] Luxturna (voretigene neparvovec) FDA approval 2017. Spark Therapeutics.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55566"/>
                </a:solidFill>
              </a:rPr>
              <a:t>[2] Zolgensma (onasemnogene abeparvovec) FDA approval 2019. AveXis/Novartis.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55566"/>
                </a:solidFill>
              </a:rPr>
              <a:t>[3] Hemgenix (etranacogene dezaparvovec) FDA approval 2022. uniQure/CSL Behring.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55566"/>
                </a:solidFill>
              </a:rPr>
              <a:t>[4] Kirschner &amp; Cathomen (2020). Gene therapy for monogenic disorders. NEJM.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55566"/>
                </a:solidFill>
              </a:rPr>
              <a:t>[5] Bara-Ledesma et al. (2025). Advances in gene therapy for rare diseases. Mol Ther.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55566"/>
                </a:solidFill>
              </a:rPr>
              <a:t>[6] Lomash et al. (2025). AAV gene therapy: early planning and regulatory considerations. Mol Ther.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55566"/>
                </a:solidFill>
              </a:rPr>
              <a:t>[7] Wang et al. (2024). AAV as a delivery vector for gene therapy. Signal Transduct Target Ther.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55566"/>
                </a:solidFill>
              </a:rPr>
              <a:t>[8] Walkey et al. (2025). Comprehensive atlas of AAV tropism in the mouse. Nat Commun.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55566"/>
                </a:solidFill>
              </a:rPr>
              <a:t>[9] Rath et al. (2012). Orphanet approach to rare disease representation. Rare Dis.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555566"/>
                </a:solidFill>
              </a:rPr>
              <a:t>[10] Chamberlain et al. (2023). Microdystrophin as a surrogate endpoint. Hum Gene Ther.</a:t>
            </a:r>
            <a:endParaRPr lang="en-US" sz="1400" dirty="0"/>
          </a:p>
        </p:txBody>
      </p:sp>
      <p:sp>
        <p:nvSpPr>
          <p:cNvPr id="313" name="Text 311"/>
          <p:cNvSpPr/>
          <p:nvPr/>
        </p:nvSpPr>
        <p:spPr>
          <a:xfrm>
            <a:off x="20226528" y="20153376"/>
            <a:ext cx="9774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66"/>
                </a:solidFill>
              </a:rPr>
              <a:t>Contact: lili.yassin25@imperial.ac.uk  ·  Data sources: Orphanet · UniProt · OMIM  ·  Supervisor: [Name]</a:t>
            </a:r>
            <a:endParaRPr lang="en-US" sz="1400" dirty="0"/>
          </a:p>
        </p:txBody>
      </p:sp>
      <p:sp>
        <p:nvSpPr>
          <p:cNvPr id="314" name="Shape 312"/>
          <p:cNvSpPr/>
          <p:nvPr/>
        </p:nvSpPr>
        <p:spPr>
          <a:xfrm>
            <a:off x="0" y="20610576"/>
            <a:ext cx="30275784" cy="777240"/>
          </a:xfrm>
          <a:prstGeom prst="rect">
            <a:avLst/>
          </a:prstGeom>
          <a:solidFill>
            <a:srgbClr val="003E74"/>
          </a:solidFill>
          <a:ln w="12700">
            <a:solidFill>
              <a:srgbClr val="003E74"/>
            </a:solidFill>
            <a:prstDash val="solid"/>
          </a:ln>
        </p:spPr>
      </p:sp>
      <p:sp>
        <p:nvSpPr>
          <p:cNvPr id="315" name="Text 313"/>
          <p:cNvSpPr/>
          <p:nvPr/>
        </p:nvSpPr>
        <p:spPr>
          <a:xfrm>
            <a:off x="365760" y="20610576"/>
            <a:ext cx="105965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9BBCC"/>
                </a:solidFill>
              </a:rPr>
              <a:t>NanoGT  ·  Imperial College London  ·  MSc Dissertation 2026</a:t>
            </a:r>
            <a:endParaRPr lang="en-US" sz="1600" dirty="0"/>
          </a:p>
        </p:txBody>
      </p:sp>
      <p:sp>
        <p:nvSpPr>
          <p:cNvPr id="316" name="Text 314"/>
          <p:cNvSpPr/>
          <p:nvPr/>
        </p:nvSpPr>
        <p:spPr>
          <a:xfrm>
            <a:off x="10596524" y="20610576"/>
            <a:ext cx="908273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BBCC"/>
                </a:solidFill>
              </a:rPr>
              <a:t>Dissertation Days 2026  ·  Imperial College London</a:t>
            </a:r>
            <a:endParaRPr lang="en-US" sz="1600" dirty="0"/>
          </a:p>
        </p:txBody>
      </p:sp>
      <p:sp>
        <p:nvSpPr>
          <p:cNvPr id="317" name="Text 315"/>
          <p:cNvSpPr/>
          <p:nvPr/>
        </p:nvSpPr>
        <p:spPr>
          <a:xfrm>
            <a:off x="19679260" y="20610576"/>
            <a:ext cx="9991009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9BBCC"/>
                </a:solidFill>
              </a:rPr>
              <a:t>Lili Yassin  ·  lili.yassin25@imperial.ac.uk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NanoGT Poster – Imperial College London</dc:title>
  <dc:subject>PptxGenJS Presentation</dc:subject>
  <dc:creator>Lili Yassin</dc:creator>
  <cp:lastModifiedBy>Lili Yassin</cp:lastModifiedBy>
  <cp:revision>1</cp:revision>
  <dcterms:created xsi:type="dcterms:W3CDTF">2026-06-23T11:38:52Z</dcterms:created>
  <dcterms:modified xsi:type="dcterms:W3CDTF">2026-06-23T11:38:52Z</dcterms:modified>
</cp:coreProperties>
</file>